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2" r:id="rId3"/>
    <p:sldId id="257" r:id="rId4"/>
    <p:sldId id="258" r:id="rId5"/>
    <p:sldId id="259" r:id="rId6"/>
    <p:sldId id="260" r:id="rId7"/>
    <p:sldId id="261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0E79"/>
    <a:srgbClr val="AF2191"/>
    <a:srgbClr val="AF8827"/>
    <a:srgbClr val="D21304"/>
    <a:srgbClr val="71C30D"/>
    <a:srgbClr val="CDC808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0" autoAdjust="0"/>
    <p:restoredTop sz="94664" autoAdjust="0"/>
  </p:normalViewPr>
  <p:slideViewPr>
    <p:cSldViewPr>
      <p:cViewPr varScale="1">
        <p:scale>
          <a:sx n="66" d="100"/>
          <a:sy n="66" d="100"/>
        </p:scale>
        <p:origin x="-114" y="-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98F389-A429-4697-937D-ABA8E1649212}" type="datetimeFigureOut">
              <a:rPr lang="ru-RU"/>
              <a:pPr>
                <a:defRPr/>
              </a:pPr>
              <a:t>14.02.2013</a:t>
            </a:fld>
            <a:endParaRPr lang="ru-RU"/>
          </a:p>
        </p:txBody>
      </p:sp>
      <p:sp>
        <p:nvSpPr>
          <p:cNvPr id="5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725FB-1098-42FE-BB1D-A861FFDC359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C81AB-5273-43F9-AB70-2E5F1F120200}" type="datetimeFigureOut">
              <a:rPr lang="ru-RU"/>
              <a:pPr>
                <a:defRPr/>
              </a:pPr>
              <a:t>14.02.2013</a:t>
            </a:fld>
            <a:endParaRPr lang="ru-RU"/>
          </a:p>
        </p:txBody>
      </p:sp>
      <p:sp>
        <p:nvSpPr>
          <p:cNvPr id="5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DD2C1C-2FB3-44C7-99EC-EF88CF1BC09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7F0B94-CFA8-46D2-A1EE-E73412BAEEF9}" type="datetimeFigureOut">
              <a:rPr lang="ru-RU"/>
              <a:pPr>
                <a:defRPr/>
              </a:pPr>
              <a:t>14.02.2013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E47DB-BB03-48B3-A440-23327664A21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F565D1-6B17-491C-90CD-6CA7DF65DC22}" type="datetimeFigureOut">
              <a:rPr lang="ru-RU"/>
              <a:pPr>
                <a:defRPr/>
              </a:pPr>
              <a:t>14.02.2013</a:t>
            </a:fld>
            <a:endParaRPr lang="ru-RU"/>
          </a:p>
        </p:txBody>
      </p:sp>
      <p:sp>
        <p:nvSpPr>
          <p:cNvPr id="6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E50D7-99A5-438F-99E2-1C74458CA71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B43AFB-E073-4CD5-8ED7-1DD65359A856}" type="datetimeFigureOut">
              <a:rPr lang="ru-RU"/>
              <a:pPr>
                <a:defRPr/>
              </a:pPr>
              <a:t>14.02.2013</a:t>
            </a:fld>
            <a:endParaRPr lang="ru-RU"/>
          </a:p>
        </p:txBody>
      </p:sp>
      <p:sp>
        <p:nvSpPr>
          <p:cNvPr id="8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A7E74-2DBE-4FE4-B23E-5994F6BF44A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091C3-A4E8-488F-9D5C-36EA168B59D0}" type="datetimeFigureOut">
              <a:rPr lang="ru-RU"/>
              <a:pPr>
                <a:defRPr/>
              </a:pPr>
              <a:t>14.02.2013</a:t>
            </a:fld>
            <a:endParaRPr lang="ru-RU"/>
          </a:p>
        </p:txBody>
      </p:sp>
      <p:sp>
        <p:nvSpPr>
          <p:cNvPr id="4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488E38-BA8D-45BF-8FD2-C20678B0A49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6A770B-FEE4-440D-9E81-3721555C390A}" type="datetimeFigureOut">
              <a:rPr lang="ru-RU"/>
              <a:pPr>
                <a:defRPr/>
              </a:pPr>
              <a:t>14.02.2013</a:t>
            </a:fld>
            <a:endParaRPr lang="ru-RU"/>
          </a:p>
        </p:txBody>
      </p:sp>
      <p:sp>
        <p:nvSpPr>
          <p:cNvPr id="3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6CEFE-8328-410F-A36B-3543E8BE548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C2155B-CD0D-4B89-8A59-5102F9C7B8D7}" type="datetimeFigureOut">
              <a:rPr lang="ru-RU"/>
              <a:pPr>
                <a:defRPr/>
              </a:pPr>
              <a:t>14.02.2013</a:t>
            </a:fld>
            <a:endParaRPr lang="ru-RU"/>
          </a:p>
        </p:txBody>
      </p:sp>
      <p:sp>
        <p:nvSpPr>
          <p:cNvPr id="6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CC87B-0154-4525-9026-7E5901595D5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с одним вырезанным скругленным углом 8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Прямоугольный треугольник 11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Полилиния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Полилиния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9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56042-7C87-4210-8F51-FEB82F3E5A51}" type="datetimeFigureOut">
              <a:rPr lang="ru-RU"/>
              <a:pPr>
                <a:defRPr/>
              </a:pPr>
              <a:t>14.02.2013</a:t>
            </a:fld>
            <a:endParaRPr lang="ru-RU"/>
          </a:p>
        </p:txBody>
      </p:sp>
      <p:sp>
        <p:nvSpPr>
          <p:cNvPr id="10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A25D4F-4AF8-4F7C-8D71-C383FB8B0C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43814-437D-4422-99D2-A75D85CD206B}" type="datetimeFigureOut">
              <a:rPr lang="ru-RU"/>
              <a:pPr>
                <a:defRPr/>
              </a:pPr>
              <a:t>14.02.2013</a:t>
            </a:fld>
            <a:endParaRPr lang="ru-RU"/>
          </a:p>
        </p:txBody>
      </p:sp>
      <p:sp>
        <p:nvSpPr>
          <p:cNvPr id="5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30196-A335-4461-8860-E0C855EB4CA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8683C4-E810-41CA-9F16-1F2FDBA34DF5}" type="datetimeFigureOut">
              <a:rPr lang="ru-RU"/>
              <a:pPr>
                <a:defRPr/>
              </a:pPr>
              <a:t>14.02.2013</a:t>
            </a:fld>
            <a:endParaRPr lang="ru-RU"/>
          </a:p>
        </p:txBody>
      </p:sp>
      <p:sp>
        <p:nvSpPr>
          <p:cNvPr id="5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C7262-C9B4-4A7E-9AEC-61A0B0F426B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28" name="Заголовок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  <a:endParaRPr lang="en-US" smtClean="0"/>
          </a:p>
        </p:txBody>
      </p:sp>
      <p:sp>
        <p:nvSpPr>
          <p:cNvPr id="1029" name="Текст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DE95265-B162-44E7-93E8-B98C51D2156C}" type="datetimeFigureOut">
              <a:rPr lang="ru-RU"/>
              <a:pPr>
                <a:defRPr/>
              </a:pPr>
              <a:t>14.02.2013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5B49C2-29B2-4C43-8FC1-36DA24E92D4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33" name="Группа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3" r:id="rId3"/>
    <p:sldLayoutId id="2147483670" r:id="rId4"/>
    <p:sldLayoutId id="2147483669" r:id="rId5"/>
    <p:sldLayoutId id="2147483668" r:id="rId6"/>
    <p:sldLayoutId id="2147483667" r:id="rId7"/>
    <p:sldLayoutId id="2147483666" r:id="rId8"/>
    <p:sldLayoutId id="2147483674" r:id="rId9"/>
    <p:sldLayoutId id="2147483665" r:id="rId10"/>
    <p:sldLayoutId id="214748366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idx="4294967295"/>
          </p:nvPr>
        </p:nvSpPr>
        <p:spPr>
          <a:xfrm>
            <a:off x="549931" y="572207"/>
            <a:ext cx="7727631" cy="1410118"/>
          </a:xfrm>
        </p:spPr>
        <p:txBody>
          <a:bodyPr tIns="0" rIns="18288">
            <a:normAutofit fontScale="90000"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                                                             </a:t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 </a:t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                                                                </a:t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0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                                                     </a:t>
            </a:r>
            <a:r>
              <a:rPr lang="uk-UA" sz="27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Урок – проект</a:t>
            </a:r>
            <a:br>
              <a:rPr lang="uk-UA" sz="27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7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    з позакласного читання, екології та інформатики</a:t>
            </a:r>
            <a:br>
              <a:rPr lang="uk-UA" sz="27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7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                              </a:t>
            </a:r>
            <a:r>
              <a:rPr lang="uk-UA" sz="2700" b="1" i="1" dirty="0" err="1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“Допомога</a:t>
            </a:r>
            <a:r>
              <a:rPr lang="uk-UA" sz="27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 зимуючим </a:t>
            </a:r>
            <a:r>
              <a:rPr lang="uk-UA" sz="2700" b="1" i="1" dirty="0" err="1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птахам”</a:t>
            </a:r>
            <a:r>
              <a:rPr lang="uk-UA" sz="27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 </a:t>
            </a:r>
            <a:br>
              <a:rPr lang="uk-UA" sz="2700" b="1" i="1" dirty="0" smtClean="0">
                <a:solidFill>
                  <a:srgbClr val="FF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uk-UA" sz="2700" b="1" i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                    Ю. </a:t>
            </a:r>
            <a:r>
              <a:rPr lang="uk-UA" sz="2700" b="1" i="1" dirty="0" err="1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Старостенко</a:t>
            </a:r>
            <a:r>
              <a:rPr lang="uk-UA" sz="2700" b="1" i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 </a:t>
            </a:r>
            <a:r>
              <a:rPr lang="uk-UA" sz="2700" b="1" i="1" dirty="0" err="1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“Летімо</a:t>
            </a:r>
            <a:r>
              <a:rPr lang="uk-UA" sz="2700" b="1" i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 в </a:t>
            </a:r>
            <a:r>
              <a:rPr lang="uk-UA" sz="2700" b="1" i="1" dirty="0" err="1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садок.”</a:t>
            </a:r>
            <a:r>
              <a:rPr lang="en-US" sz="2700" b="1" i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en-US" sz="2700" b="1" i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en-US" sz="2700" b="1" i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                   </a:t>
            </a:r>
            <a:r>
              <a:rPr lang="uk-UA" sz="2700" b="1" i="1" dirty="0" smtClean="0">
                <a:solidFill>
                  <a:srgbClr val="C0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Інтерфейс графічного редактора </a:t>
            </a:r>
            <a:r>
              <a:rPr lang="en-US" sz="2700" b="1" i="1" dirty="0" smtClean="0">
                <a:solidFill>
                  <a:srgbClr val="C00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 Paint.</a:t>
            </a:r>
            <a:r>
              <a:rPr lang="ru-RU" sz="2700" b="1" i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ru-RU" sz="2700" b="1" i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endParaRPr lang="ru-RU" sz="2700" b="1" i="1" dirty="0">
              <a:solidFill>
                <a:schemeClr val="accent5">
                  <a:lumMod val="75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13314" name="Подзаголовок 2"/>
          <p:cNvSpPr>
            <a:spLocks noGrp="1"/>
          </p:cNvSpPr>
          <p:nvPr>
            <p:ph type="subTitle" idx="4294967295"/>
          </p:nvPr>
        </p:nvSpPr>
        <p:spPr>
          <a:xfrm>
            <a:off x="250825" y="4797425"/>
            <a:ext cx="8893175" cy="1439863"/>
          </a:xfrm>
        </p:spPr>
        <p:txBody>
          <a:bodyPr lIns="0" rIns="18288"/>
          <a:lstStyle/>
          <a:p>
            <a:pPr marL="0" indent="0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uk-UA" sz="1700" smtClean="0"/>
              <a:t>         </a:t>
            </a:r>
            <a:r>
              <a:rPr lang="uk-UA" sz="1600" smtClean="0"/>
              <a:t>Автори:вчитель початкових класів  Гончар І.В., вчитель інформатики Устименко</a:t>
            </a:r>
            <a:r>
              <a:rPr lang="uk-UA" sz="1800" smtClean="0"/>
              <a:t> С.С.</a:t>
            </a:r>
          </a:p>
          <a:p>
            <a:pPr marL="0" indent="0" eaLnBrk="1" hangingPunct="1">
              <a:lnSpc>
                <a:spcPct val="80000"/>
              </a:lnSpc>
              <a:buFont typeface="Wingdings 2" pitchFamily="18" charset="2"/>
              <a:buNone/>
            </a:pPr>
            <a:endParaRPr lang="uk-UA" sz="1800" smtClean="0">
              <a:latin typeface="Arial" charset="0"/>
            </a:endParaRPr>
          </a:p>
          <a:p>
            <a:pPr marL="0" indent="0" algn="ctr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uk-UA" sz="1600" b="1" smtClean="0"/>
              <a:t>ВІДДІЛ ОСВІТИ ШИРОКІВСЬКОЇ  РАЙДЕРЖАДМІНІСТРАЦІЇ</a:t>
            </a:r>
          </a:p>
          <a:p>
            <a:pPr marL="0" indent="0" algn="ctr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uk-UA" sz="1600" b="1" smtClean="0"/>
              <a:t>ШИРОКІВСЬКА  СЕРЕДНЯ  ЗАГАЛЬНООСВІТНЯ ШКОЛА №2  І-ІІІ СТУПЕНІВ</a:t>
            </a:r>
            <a:endParaRPr lang="ru-RU" sz="1600" b="1" smtClean="0"/>
          </a:p>
        </p:txBody>
      </p:sp>
      <p:pic>
        <p:nvPicPr>
          <p:cNvPr id="13315" name="Рисунок 1" descr="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59113" y="2205038"/>
            <a:ext cx="2771775" cy="258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3400" y="476672"/>
            <a:ext cx="7851648" cy="1368152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uk-UA" sz="4800" i="1" dirty="0" smtClean="0">
                <a:solidFill>
                  <a:srgbClr val="FF0000"/>
                </a:solidFill>
              </a:rPr>
              <a:t>Різні книги ми </a:t>
            </a:r>
            <a:r>
              <a:rPr lang="uk-UA" sz="4800" i="1" dirty="0" err="1" smtClean="0">
                <a:solidFill>
                  <a:srgbClr val="FF0000"/>
                </a:solidFill>
              </a:rPr>
              <a:t>читаєм</a:t>
            </a:r>
            <a:r>
              <a:rPr lang="uk-UA" sz="4800" i="1" dirty="0" smtClean="0">
                <a:solidFill>
                  <a:srgbClr val="FF0000"/>
                </a:solidFill>
              </a:rPr>
              <a:t> ,про птахів багато </a:t>
            </a:r>
            <a:r>
              <a:rPr lang="uk-UA" sz="4800" i="1" dirty="0" err="1" smtClean="0">
                <a:solidFill>
                  <a:srgbClr val="FF0000"/>
                </a:solidFill>
              </a:rPr>
              <a:t>знаєм</a:t>
            </a:r>
            <a:endParaRPr lang="ru-RU" sz="4800" i="1" dirty="0">
              <a:solidFill>
                <a:srgbClr val="FF0000"/>
              </a:solidFill>
            </a:endParaRPr>
          </a:p>
        </p:txBody>
      </p:sp>
      <p:sp>
        <p:nvSpPr>
          <p:cNvPr id="14338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3400" y="3228975"/>
            <a:ext cx="7854950" cy="1752600"/>
          </a:xfrm>
        </p:spPr>
        <p:txBody>
          <a:bodyPr/>
          <a:lstStyle/>
          <a:p>
            <a:pPr marR="0" eaLnBrk="1" hangingPunct="1"/>
            <a:endParaRPr lang="ru-RU" smtClean="0"/>
          </a:p>
        </p:txBody>
      </p:sp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989138"/>
            <a:ext cx="3132138" cy="4868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0" name="Рисунок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32138" y="1989138"/>
            <a:ext cx="3311525" cy="4868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Рисунок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16688" y="1989138"/>
            <a:ext cx="2627312" cy="4868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uk-UA" sz="4800" smtClean="0">
                <a:solidFill>
                  <a:srgbClr val="FFC000"/>
                </a:solidFill>
              </a:rPr>
              <a:t>Справжній друг і цінитель </a:t>
            </a:r>
            <a:r>
              <a:rPr lang="uk-UA" sz="4800" err="1" smtClean="0">
                <a:solidFill>
                  <a:srgbClr val="FFC000"/>
                </a:solidFill>
              </a:rPr>
              <a:t>природи-Юрій</a:t>
            </a:r>
            <a:r>
              <a:rPr lang="uk-UA" sz="4800" smtClean="0">
                <a:solidFill>
                  <a:srgbClr val="FFC000"/>
                </a:solidFill>
              </a:rPr>
              <a:t> </a:t>
            </a:r>
            <a:r>
              <a:rPr lang="uk-UA" sz="4800" err="1" smtClean="0">
                <a:solidFill>
                  <a:srgbClr val="FFC000"/>
                </a:solidFill>
              </a:rPr>
              <a:t>Старостенко</a:t>
            </a:r>
            <a:endParaRPr lang="ru-RU" sz="4800">
              <a:solidFill>
                <a:srgbClr val="FFC000"/>
              </a:solidFill>
            </a:endParaRPr>
          </a:p>
        </p:txBody>
      </p:sp>
      <p:sp>
        <p:nvSpPr>
          <p:cNvPr id="15362" name="Текст 2"/>
          <p:cNvSpPr>
            <a:spLocks noGrp="1"/>
          </p:cNvSpPr>
          <p:nvPr>
            <p:ph type="body" idx="1"/>
          </p:nvPr>
        </p:nvSpPr>
        <p:spPr>
          <a:xfrm>
            <a:off x="4284663" y="2705100"/>
            <a:ext cx="4175125" cy="1509713"/>
          </a:xfrm>
        </p:spPr>
        <p:txBody>
          <a:bodyPr/>
          <a:lstStyle/>
          <a:p>
            <a:pPr eaLnBrk="1" hangingPunct="1"/>
            <a:r>
              <a:rPr lang="uk-UA" sz="6600" smtClean="0"/>
              <a:t>                 </a:t>
            </a:r>
            <a:r>
              <a:rPr lang="uk-UA" sz="6600" smtClean="0">
                <a:solidFill>
                  <a:srgbClr val="C00000"/>
                </a:solidFill>
              </a:rPr>
              <a:t>1923-1965</a:t>
            </a:r>
            <a:endParaRPr lang="ru-RU" sz="6600" smtClean="0">
              <a:solidFill>
                <a:srgbClr val="C00000"/>
              </a:solidFill>
            </a:endParaRPr>
          </a:p>
        </p:txBody>
      </p:sp>
      <p:pic>
        <p:nvPicPr>
          <p:cNvPr id="1536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636838"/>
            <a:ext cx="4067175" cy="422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404664"/>
            <a:ext cx="7772400" cy="144016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uk-UA" smtClean="0">
                <a:solidFill>
                  <a:srgbClr val="92D050"/>
                </a:solidFill>
              </a:rPr>
              <a:t>Народ скаже, як зав</a:t>
            </a:r>
            <a:r>
              <a:rPr smtClean="0">
                <a:solidFill>
                  <a:srgbClr val="92D050"/>
                </a:solidFill>
              </a:rPr>
              <a:t>’</a:t>
            </a:r>
            <a:r>
              <a:rPr lang="uk-UA" err="1" smtClean="0">
                <a:solidFill>
                  <a:srgbClr val="92D050"/>
                </a:solidFill>
              </a:rPr>
              <a:t>яже</a:t>
            </a:r>
            <a:endParaRPr lang="ru-RU">
              <a:solidFill>
                <a:srgbClr val="92D050"/>
              </a:solidFill>
            </a:endParaRPr>
          </a:p>
        </p:txBody>
      </p:sp>
      <p:sp>
        <p:nvSpPr>
          <p:cNvPr id="16386" name="Текст 2"/>
          <p:cNvSpPr>
            <a:spLocks noGrp="1"/>
          </p:cNvSpPr>
          <p:nvPr>
            <p:ph type="body" idx="1"/>
          </p:nvPr>
        </p:nvSpPr>
        <p:spPr>
          <a:xfrm>
            <a:off x="530225" y="2349500"/>
            <a:ext cx="7772400" cy="2592388"/>
          </a:xfrm>
        </p:spPr>
        <p:txBody>
          <a:bodyPr/>
          <a:lstStyle/>
          <a:p>
            <a:pPr eaLnBrk="1" hangingPunct="1"/>
            <a:r>
              <a:rPr lang="uk-UA" sz="3200" smtClean="0">
                <a:solidFill>
                  <a:srgbClr val="7030A0"/>
                </a:solidFill>
              </a:rPr>
              <a:t>Де багато пташок, там нема комашок.                                                               </a:t>
            </a:r>
          </a:p>
          <a:p>
            <a:pPr eaLnBrk="1" hangingPunct="1"/>
            <a:r>
              <a:rPr lang="uk-UA" sz="3200" smtClean="0">
                <a:solidFill>
                  <a:srgbClr val="71C30D"/>
                </a:solidFill>
              </a:rPr>
              <a:t>Воля пташці краща за золоту клітку.</a:t>
            </a:r>
          </a:p>
          <a:p>
            <a:pPr eaLnBrk="1" hangingPunct="1"/>
            <a:r>
              <a:rPr lang="uk-UA" sz="3200" smtClean="0">
                <a:solidFill>
                  <a:srgbClr val="C20E79"/>
                </a:solidFill>
              </a:rPr>
              <a:t>Як багато птиць, не буде гусениць.</a:t>
            </a:r>
          </a:p>
          <a:p>
            <a:pPr eaLnBrk="1" hangingPunct="1"/>
            <a:r>
              <a:rPr lang="uk-UA" sz="3200" smtClean="0">
                <a:solidFill>
                  <a:srgbClr val="CDC808"/>
                </a:solidFill>
              </a:rPr>
              <a:t>Ліпше пташці на зеленій вітці, ніж у пана в золотій  клітці.</a:t>
            </a:r>
          </a:p>
          <a:p>
            <a:pPr eaLnBrk="1" hangingPunct="1"/>
            <a:r>
              <a:rPr lang="uk-UA" sz="3200" smtClean="0">
                <a:solidFill>
                  <a:srgbClr val="D21304"/>
                </a:solidFill>
              </a:rPr>
              <a:t>Про птахів нам треба дбати, будем їх оберігати.</a:t>
            </a: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9712" y="548680"/>
            <a:ext cx="6692280" cy="1584176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uk-UA" sz="4800" smtClean="0">
                <a:solidFill>
                  <a:srgbClr val="FF0000"/>
                </a:solidFill>
              </a:rPr>
              <a:t>Екологічна допомога зимуючим птахам</a:t>
            </a:r>
            <a:endParaRPr lang="ru-RU" sz="4800">
              <a:solidFill>
                <a:srgbClr val="FF000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225" y="2205038"/>
            <a:ext cx="7772400" cy="4464050"/>
          </a:xfr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84213" y="2997200"/>
            <a:ext cx="1511300" cy="11525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7" name="Равнобедренный треугольник 6"/>
          <p:cNvSpPr/>
          <p:nvPr/>
        </p:nvSpPr>
        <p:spPr>
          <a:xfrm>
            <a:off x="684213" y="2349500"/>
            <a:ext cx="1511300" cy="647700"/>
          </a:xfrm>
          <a:prstGeom prst="triangle">
            <a:avLst/>
          </a:prstGeom>
          <a:solidFill>
            <a:srgbClr val="D2130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2268538" y="2997200"/>
            <a:ext cx="1582737" cy="11525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995738" y="2997200"/>
            <a:ext cx="1728787" cy="1152525"/>
          </a:xfrm>
          <a:prstGeom prst="rect">
            <a:avLst/>
          </a:prstGeom>
          <a:solidFill>
            <a:srgbClr val="C20E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6011863" y="2997200"/>
            <a:ext cx="1800225" cy="1152525"/>
          </a:xfrm>
          <a:prstGeom prst="rect">
            <a:avLst/>
          </a:prstGeom>
          <a:solidFill>
            <a:srgbClr val="71C3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3" name="Равнобедренный треугольник 12"/>
          <p:cNvSpPr/>
          <p:nvPr/>
        </p:nvSpPr>
        <p:spPr>
          <a:xfrm>
            <a:off x="2268538" y="2420938"/>
            <a:ext cx="1582737" cy="576262"/>
          </a:xfrm>
          <a:prstGeom prst="triangl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4" name="Равнобедренный треугольник 13"/>
          <p:cNvSpPr/>
          <p:nvPr/>
        </p:nvSpPr>
        <p:spPr>
          <a:xfrm>
            <a:off x="3995738" y="2492375"/>
            <a:ext cx="1728787" cy="504825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5" name="Равнобедренный треугольник 14"/>
          <p:cNvSpPr/>
          <p:nvPr/>
        </p:nvSpPr>
        <p:spPr>
          <a:xfrm>
            <a:off x="6011863" y="2565400"/>
            <a:ext cx="1800225" cy="431800"/>
          </a:xfrm>
          <a:prstGeom prst="triangle">
            <a:avLst>
              <a:gd name="adj" fmla="val 50000"/>
            </a:avLst>
          </a:prstGeom>
          <a:solidFill>
            <a:srgbClr val="AF882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7419" name="TextBox 17"/>
          <p:cNvSpPr txBox="1">
            <a:spLocks noChangeArrowheads="1"/>
          </p:cNvSpPr>
          <p:nvPr/>
        </p:nvSpPr>
        <p:spPr bwMode="auto">
          <a:xfrm>
            <a:off x="755650" y="3357563"/>
            <a:ext cx="143986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k-UA">
                <a:solidFill>
                  <a:srgbClr val="00B050"/>
                </a:solidFill>
                <a:latin typeface="Constantia" pitchFamily="18" charset="0"/>
              </a:rPr>
              <a:t>500 : 100 - 4</a:t>
            </a:r>
            <a:endParaRPr lang="ru-RU">
              <a:solidFill>
                <a:srgbClr val="00B050"/>
              </a:solidFill>
              <a:latin typeface="Constantia" pitchFamily="18" charset="0"/>
            </a:endParaRPr>
          </a:p>
        </p:txBody>
      </p:sp>
      <p:sp>
        <p:nvSpPr>
          <p:cNvPr id="17420" name="TextBox 18"/>
          <p:cNvSpPr txBox="1">
            <a:spLocks noChangeArrowheads="1"/>
          </p:cNvSpPr>
          <p:nvPr/>
        </p:nvSpPr>
        <p:spPr bwMode="auto">
          <a:xfrm>
            <a:off x="2339975" y="3284538"/>
            <a:ext cx="14398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k-UA">
                <a:solidFill>
                  <a:srgbClr val="AF2191"/>
                </a:solidFill>
                <a:latin typeface="Constantia" pitchFamily="18" charset="0"/>
              </a:rPr>
              <a:t>(20-6) : 7</a:t>
            </a:r>
            <a:endParaRPr lang="ru-RU">
              <a:solidFill>
                <a:srgbClr val="AF2191"/>
              </a:solidFill>
              <a:latin typeface="Constantia" pitchFamily="18" charset="0"/>
            </a:endParaRPr>
          </a:p>
        </p:txBody>
      </p:sp>
      <p:sp>
        <p:nvSpPr>
          <p:cNvPr id="17421" name="TextBox 19"/>
          <p:cNvSpPr txBox="1">
            <a:spLocks noChangeArrowheads="1"/>
          </p:cNvSpPr>
          <p:nvPr/>
        </p:nvSpPr>
        <p:spPr bwMode="auto">
          <a:xfrm>
            <a:off x="4067175" y="3213100"/>
            <a:ext cx="15128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k-UA">
                <a:latin typeface="Constantia" pitchFamily="18" charset="0"/>
              </a:rPr>
              <a:t>(20+20) : 10</a:t>
            </a:r>
            <a:endParaRPr lang="ru-RU">
              <a:latin typeface="Constantia" pitchFamily="18" charset="0"/>
            </a:endParaRPr>
          </a:p>
        </p:txBody>
      </p:sp>
      <p:sp>
        <p:nvSpPr>
          <p:cNvPr id="17422" name="TextBox 20"/>
          <p:cNvSpPr txBox="1">
            <a:spLocks noChangeArrowheads="1"/>
          </p:cNvSpPr>
          <p:nvPr/>
        </p:nvSpPr>
        <p:spPr bwMode="auto">
          <a:xfrm>
            <a:off x="6156325" y="3213100"/>
            <a:ext cx="1584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k-UA">
                <a:solidFill>
                  <a:srgbClr val="C00000"/>
                </a:solidFill>
                <a:latin typeface="Constantia" pitchFamily="18" charset="0"/>
              </a:rPr>
              <a:t>(72-12) : 10</a:t>
            </a:r>
            <a:endParaRPr lang="ru-RU">
              <a:solidFill>
                <a:srgbClr val="C00000"/>
              </a:solidFill>
              <a:latin typeface="Constantia" pitchFamily="18" charset="0"/>
            </a:endParaRPr>
          </a:p>
        </p:txBody>
      </p:sp>
      <p:sp>
        <p:nvSpPr>
          <p:cNvPr id="17423" name="TextBox 21"/>
          <p:cNvSpPr txBox="1">
            <a:spLocks noChangeArrowheads="1"/>
          </p:cNvSpPr>
          <p:nvPr/>
        </p:nvSpPr>
        <p:spPr bwMode="auto">
          <a:xfrm>
            <a:off x="755650" y="4508500"/>
            <a:ext cx="7345363" cy="267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k-UA" sz="2400">
                <a:solidFill>
                  <a:srgbClr val="FFFF00"/>
                </a:solidFill>
                <a:latin typeface="Constantia" pitchFamily="18" charset="0"/>
              </a:rPr>
              <a:t>1)Птахи полюбляють; </a:t>
            </a:r>
          </a:p>
          <a:p>
            <a:r>
              <a:rPr lang="uk-UA" sz="2400">
                <a:solidFill>
                  <a:srgbClr val="C00000"/>
                </a:solidFill>
                <a:latin typeface="Constantia" pitchFamily="18" charset="0"/>
              </a:rPr>
              <a:t>2) пшоно, крихти хліба ;</a:t>
            </a:r>
          </a:p>
          <a:p>
            <a:r>
              <a:rPr lang="uk-UA" sz="2400">
                <a:solidFill>
                  <a:srgbClr val="C00000"/>
                </a:solidFill>
                <a:latin typeface="Constantia" pitchFamily="18" charset="0"/>
              </a:rPr>
              <a:t>3) гречану кашу;</a:t>
            </a:r>
          </a:p>
          <a:p>
            <a:r>
              <a:rPr lang="uk-UA" sz="2400">
                <a:solidFill>
                  <a:srgbClr val="C00000"/>
                </a:solidFill>
                <a:latin typeface="Constantia" pitchFamily="18" charset="0"/>
              </a:rPr>
              <a:t>4) соняшникове насіння ;</a:t>
            </a:r>
          </a:p>
          <a:p>
            <a:r>
              <a:rPr lang="uk-UA" sz="2400">
                <a:solidFill>
                  <a:srgbClr val="C00000"/>
                </a:solidFill>
                <a:latin typeface="Constantia" pitchFamily="18" charset="0"/>
              </a:rPr>
              <a:t>5) капусту і картоплю ;</a:t>
            </a:r>
          </a:p>
          <a:p>
            <a:r>
              <a:rPr lang="uk-UA" sz="2400">
                <a:solidFill>
                  <a:srgbClr val="C00000"/>
                </a:solidFill>
                <a:latin typeface="Constantia" pitchFamily="18" charset="0"/>
              </a:rPr>
              <a:t>6) несолоне сало, насіння дині.</a:t>
            </a:r>
          </a:p>
          <a:p>
            <a:endParaRPr lang="ru-RU" sz="2400">
              <a:solidFill>
                <a:srgbClr val="C00000"/>
              </a:solidFill>
              <a:latin typeface="Constantia" pitchFamily="18" charset="0"/>
            </a:endParaRP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4348" y="857232"/>
            <a:ext cx="8143932" cy="92869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uk-UA" sz="4400" smtClean="0"/>
              <a:t/>
            </a:r>
            <a:br>
              <a:rPr lang="uk-UA" sz="4400" smtClean="0"/>
            </a:br>
            <a:r>
              <a:rPr lang="uk-UA" sz="4400" smtClean="0"/>
              <a:t/>
            </a:r>
            <a:br>
              <a:rPr lang="uk-UA" sz="4400" smtClean="0"/>
            </a:br>
            <a:r>
              <a:rPr lang="uk-UA" sz="4400" smtClean="0"/>
              <a:t/>
            </a:r>
            <a:br>
              <a:rPr lang="uk-UA" sz="4400" smtClean="0"/>
            </a:br>
            <a:r>
              <a:rPr lang="uk-UA" sz="4800" smtClean="0"/>
              <a:t>Про птахів нам треба дбати ,              </a:t>
            </a:r>
            <a:br>
              <a:rPr lang="uk-UA" sz="4800" smtClean="0"/>
            </a:br>
            <a:r>
              <a:rPr lang="uk-UA" sz="4800" smtClean="0"/>
              <a:t>              </a:t>
            </a:r>
            <a:r>
              <a:rPr lang="uk-UA" sz="4800" err="1" smtClean="0"/>
              <a:t>будем</a:t>
            </a:r>
            <a:r>
              <a:rPr lang="uk-UA" sz="4800" smtClean="0"/>
              <a:t> їх оберігати</a:t>
            </a:r>
            <a:endParaRPr lang="ru-RU" sz="4800"/>
          </a:p>
        </p:txBody>
      </p:sp>
      <p:sp>
        <p:nvSpPr>
          <p:cNvPr id="18434" name="Текст 2"/>
          <p:cNvSpPr>
            <a:spLocks noGrp="1"/>
          </p:cNvSpPr>
          <p:nvPr>
            <p:ph type="body" idx="1"/>
          </p:nvPr>
        </p:nvSpPr>
        <p:spPr>
          <a:xfrm>
            <a:off x="357188" y="2500313"/>
            <a:ext cx="7945437" cy="1009650"/>
          </a:xfrm>
        </p:spPr>
        <p:txBody>
          <a:bodyPr/>
          <a:lstStyle/>
          <a:p>
            <a:pPr eaLnBrk="1" hangingPunct="1"/>
            <a:endParaRPr lang="ru-RU" smtClean="0"/>
          </a:p>
        </p:txBody>
      </p:sp>
      <p:pic>
        <p:nvPicPr>
          <p:cNvPr id="18435" name="Picture 3" descr="F:\Новая папка\снігурі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3" y="1714500"/>
            <a:ext cx="2214562" cy="164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6" name="Picture 4" descr="F:\Новая папка\синичка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0813" y="5286375"/>
            <a:ext cx="253682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7" name="Picture 5" descr="F:\Новая папка\дятел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286375"/>
            <a:ext cx="2490788" cy="166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8" name="Picture 6" descr="F:\Новая папка\голуб.jpe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858000" y="1714500"/>
            <a:ext cx="2143125" cy="164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9" name="Picture 7" descr="F:\Новая папка\gorobets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43000" y="3500438"/>
            <a:ext cx="2252663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0" name="Picture 9" descr="F:\соловей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357563" y="5186363"/>
            <a:ext cx="2100262" cy="167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1" name="Picture 10" descr="F:\ласточка.jp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429250" y="3429000"/>
            <a:ext cx="2286000" cy="178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1214422"/>
            <a:ext cx="7343772" cy="125500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uk-UA" smtClean="0"/>
              <a:t/>
            </a:r>
            <a:br>
              <a:rPr lang="uk-UA" smtClean="0"/>
            </a:br>
            <a:r>
              <a:rPr lang="uk-UA" smtClean="0"/>
              <a:t/>
            </a:r>
            <a:br>
              <a:rPr lang="uk-UA" smtClean="0"/>
            </a:br>
            <a:r>
              <a:rPr lang="uk-UA" smtClean="0"/>
              <a:t/>
            </a:r>
            <a:br>
              <a:rPr lang="uk-UA" smtClean="0"/>
            </a:br>
            <a:r>
              <a:rPr lang="uk-UA" smtClean="0"/>
              <a:t/>
            </a:r>
            <a:br>
              <a:rPr lang="uk-UA" smtClean="0"/>
            </a:br>
            <a:r>
              <a:rPr lang="uk-UA" smtClean="0"/>
              <a:t/>
            </a:r>
            <a:br>
              <a:rPr lang="uk-UA" smtClean="0"/>
            </a:br>
            <a:r>
              <a:rPr lang="uk-UA" smtClean="0"/>
              <a:t>     </a:t>
            </a:r>
            <a:r>
              <a:rPr lang="uk-UA" sz="5400" smtClean="0"/>
              <a:t>Птахів оберігає нині          </a:t>
            </a:r>
            <a:br>
              <a:rPr lang="uk-UA" sz="5400" smtClean="0"/>
            </a:br>
            <a:r>
              <a:rPr lang="uk-UA" sz="5400" smtClean="0"/>
              <a:t>   Червона книга України</a:t>
            </a:r>
            <a:endParaRPr lang="ru-RU" sz="5400"/>
          </a:p>
        </p:txBody>
      </p:sp>
      <p:sp>
        <p:nvSpPr>
          <p:cNvPr id="19458" name="Текст 2"/>
          <p:cNvSpPr>
            <a:spLocks noGrp="1"/>
          </p:cNvSpPr>
          <p:nvPr>
            <p:ph type="body" idx="1"/>
          </p:nvPr>
        </p:nvSpPr>
        <p:spPr>
          <a:xfrm>
            <a:off x="530225" y="2705100"/>
            <a:ext cx="7772400" cy="1509713"/>
          </a:xfrm>
        </p:spPr>
        <p:txBody>
          <a:bodyPr/>
          <a:lstStyle/>
          <a:p>
            <a:pPr eaLnBrk="1" hangingPunct="1"/>
            <a:endParaRPr lang="ru-RU" smtClean="0"/>
          </a:p>
        </p:txBody>
      </p:sp>
      <p:pic>
        <p:nvPicPr>
          <p:cNvPr id="19459" name="Picture 4" descr="F:\Новая папка\червона книга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25" y="3071813"/>
            <a:ext cx="3357563" cy="3643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4" descr="Безымянный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52513"/>
            <a:ext cx="3671888" cy="2624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2" name="Picture 5" descr="годивнычка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35600" y="981075"/>
            <a:ext cx="3430588" cy="266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3" name="Picture 6" descr="повзик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11413" y="3716338"/>
            <a:ext cx="3863975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5" name="Rectangle 5"/>
          <p:cNvSpPr>
            <a:spLocks noGrp="1"/>
          </p:cNvSpPr>
          <p:nvPr>
            <p:ph type="title" idx="4294967295"/>
          </p:nvPr>
        </p:nvSpPr>
        <p:spPr>
          <a:xfrm>
            <a:off x="457200" y="-387350"/>
            <a:ext cx="8229600" cy="1368425"/>
          </a:xfrm>
        </p:spPr>
        <p:txBody>
          <a:bodyPr/>
          <a:lstStyle/>
          <a:p>
            <a:r>
              <a:rPr lang="ru-RU" sz="2400" b="1" i="1" smtClean="0">
                <a:solidFill>
                  <a:schemeClr val="hlink"/>
                </a:solidFill>
                <a:latin typeface="Arial" charset="0"/>
              </a:rPr>
              <a:t>Малювали ми трудились  </a:t>
            </a:r>
            <a:r>
              <a:rPr lang="uk-UA" sz="2400" b="1" i="1" smtClean="0">
                <a:solidFill>
                  <a:schemeClr val="hlink"/>
                </a:solidFill>
                <a:latin typeface="Arial" charset="0"/>
              </a:rPr>
              <a:t> і гарненькі пташки у нас </a:t>
            </a:r>
            <a:r>
              <a:rPr lang="en-US" sz="2400" b="1" i="1" smtClean="0">
                <a:solidFill>
                  <a:schemeClr val="hlink"/>
                </a:solidFill>
                <a:latin typeface="Arial" charset="0"/>
              </a:rPr>
              <a:t>            </a:t>
            </a:r>
            <a:br>
              <a:rPr lang="en-US" sz="2400" b="1" i="1" smtClean="0">
                <a:solidFill>
                  <a:schemeClr val="hlink"/>
                </a:solidFill>
                <a:latin typeface="Arial" charset="0"/>
              </a:rPr>
            </a:br>
            <a:r>
              <a:rPr lang="en-US" sz="2400" b="1" i="1" smtClean="0">
                <a:solidFill>
                  <a:schemeClr val="hlink"/>
                </a:solidFill>
                <a:latin typeface="Arial" charset="0"/>
              </a:rPr>
              <a:t>                                    </a:t>
            </a:r>
            <a:r>
              <a:rPr lang="uk-UA" sz="2400" b="1" i="1" smtClean="0">
                <a:solidFill>
                  <a:schemeClr val="hlink"/>
                </a:solidFill>
                <a:latin typeface="Arial" charset="0"/>
              </a:rPr>
              <a:t>з</a:t>
            </a:r>
            <a:r>
              <a:rPr lang="en-US" sz="2400" b="1" i="1" smtClean="0">
                <a:solidFill>
                  <a:schemeClr val="hlink"/>
                </a:solidFill>
                <a:latin typeface="Arial" charset="0"/>
              </a:rPr>
              <a:t>’</a:t>
            </a:r>
            <a:r>
              <a:rPr lang="uk-UA" sz="2400" b="1" i="1" smtClean="0">
                <a:solidFill>
                  <a:schemeClr val="hlink"/>
                </a:solidFill>
                <a:latin typeface="Arial" charset="0"/>
              </a:rPr>
              <a:t>явились</a:t>
            </a:r>
            <a:endParaRPr lang="ru-RU" sz="2400" b="1" i="1" smtClean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20486" name="Rectangle 6"/>
          <p:cNvSpPr>
            <a:spLocks noGrp="1"/>
          </p:cNvSpPr>
          <p:nvPr>
            <p:ph type="body" idx="4294967295"/>
          </p:nvPr>
        </p:nvSpPr>
        <p:spPr>
          <a:xfrm>
            <a:off x="468313" y="1989138"/>
            <a:ext cx="8229600" cy="4389437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endParaRPr lang="ru-RU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4" descr="сынычка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56325" y="836613"/>
            <a:ext cx="2698750" cy="237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6" name="Picture 5" descr="Пташка 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836613"/>
            <a:ext cx="2987675" cy="238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7" name="Picture 6" descr="птатахи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71775" y="3357563"/>
            <a:ext cx="3968750" cy="314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4" descr="пташка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04813"/>
            <a:ext cx="3419475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0" name="Picture 5" descr="1 пташка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80063" y="404813"/>
            <a:ext cx="3141662" cy="266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1" name="Picture 6" descr="90-098г7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00338" y="3357563"/>
            <a:ext cx="4165600" cy="297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4-А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Поток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Поток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4-А</Template>
  <TotalTime>64</TotalTime>
  <Words>99</Words>
  <Application>Microsoft Office PowerPoint</Application>
  <PresentationFormat>Экран (4:3)</PresentationFormat>
  <Paragraphs>21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Шаблон оформления</vt:lpstr>
      </vt:variant>
      <vt:variant>
        <vt:i4>4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Calibri</vt:lpstr>
      <vt:lpstr>Constantia</vt:lpstr>
      <vt:lpstr>Wingdings 2</vt:lpstr>
      <vt:lpstr>4-А</vt:lpstr>
      <vt:lpstr>4-А</vt:lpstr>
      <vt:lpstr>4-А</vt:lpstr>
      <vt:lpstr>4-А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Малювали ми трудились   і гарненькі пташки у нас                                                  з’явились</vt:lpstr>
      <vt:lpstr>Слайд 9</vt:lpstr>
      <vt:lpstr>Слайд 10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Різні книги ми читаєм ,про птахів багато знаєм</dc:title>
  <dc:creator>User</dc:creator>
  <cp:lastModifiedBy>Пользователь</cp:lastModifiedBy>
  <cp:revision>8</cp:revision>
  <dcterms:created xsi:type="dcterms:W3CDTF">2013-02-03T18:13:16Z</dcterms:created>
  <dcterms:modified xsi:type="dcterms:W3CDTF">2013-02-14T09:16:47Z</dcterms:modified>
</cp:coreProperties>
</file>