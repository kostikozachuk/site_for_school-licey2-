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22"/>
  </p:notesMasterIdLst>
  <p:sldIdLst>
    <p:sldId id="256" r:id="rId2"/>
    <p:sldId id="273" r:id="rId3"/>
    <p:sldId id="257" r:id="rId4"/>
    <p:sldId id="274" r:id="rId5"/>
    <p:sldId id="258" r:id="rId6"/>
    <p:sldId id="259" r:id="rId7"/>
    <p:sldId id="275" r:id="rId8"/>
    <p:sldId id="260" r:id="rId9"/>
    <p:sldId id="276" r:id="rId10"/>
    <p:sldId id="261" r:id="rId11"/>
    <p:sldId id="262" r:id="rId12"/>
    <p:sldId id="263" r:id="rId13"/>
    <p:sldId id="264" r:id="rId14"/>
    <p:sldId id="277" r:id="rId15"/>
    <p:sldId id="265" r:id="rId16"/>
    <p:sldId id="278" r:id="rId17"/>
    <p:sldId id="270" r:id="rId18"/>
    <p:sldId id="271" r:id="rId19"/>
    <p:sldId id="266" r:id="rId20"/>
    <p:sldId id="269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10B3"/>
    <a:srgbClr val="56C709"/>
    <a:srgbClr val="ECFC1C"/>
    <a:srgbClr val="00FF00"/>
    <a:srgbClr val="0000FF"/>
    <a:srgbClr val="006600"/>
    <a:srgbClr val="ACB903"/>
    <a:srgbClr val="A7C01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1" autoAdjust="0"/>
    <p:restoredTop sz="89420" autoAdjust="0"/>
  </p:normalViewPr>
  <p:slideViewPr>
    <p:cSldViewPr>
      <p:cViewPr varScale="1">
        <p:scale>
          <a:sx n="81" d="100"/>
          <a:sy n="81" d="100"/>
        </p:scale>
        <p:origin x="-17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C9662-2DA9-4C16-8753-3823194A3E61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03254-ADC8-4D5B-ACB4-261302EDF4EE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003254-ADC8-4D5B-ACB4-261302EDF4EE}" type="slidenum">
              <a:rPr lang="ru-RU" smtClean="0"/>
              <a:pPr/>
              <a:t>6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003254-ADC8-4D5B-ACB4-261302EDF4EE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0D6D-C513-40C3-8CF7-CC6FCB7F132C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AAD7-20C3-4158-9A47-2FC2BE054A02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0D6D-C513-40C3-8CF7-CC6FCB7F132C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AAD7-20C3-4158-9A47-2FC2BE054A02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0D6D-C513-40C3-8CF7-CC6FCB7F132C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AAD7-20C3-4158-9A47-2FC2BE054A02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0D6D-C513-40C3-8CF7-CC6FCB7F132C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AAD7-20C3-4158-9A47-2FC2BE054A02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0D6D-C513-40C3-8CF7-CC6FCB7F132C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AAD7-20C3-4158-9A47-2FC2BE054A02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0D6D-C513-40C3-8CF7-CC6FCB7F132C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AAD7-20C3-4158-9A47-2FC2BE054A02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0D6D-C513-40C3-8CF7-CC6FCB7F132C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AAD7-20C3-4158-9A47-2FC2BE054A02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0D6D-C513-40C3-8CF7-CC6FCB7F132C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AAD7-20C3-4158-9A47-2FC2BE054A02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0D6D-C513-40C3-8CF7-CC6FCB7F132C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637AAD7-20C3-4158-9A47-2FC2BE054A0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dirty="0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0D6D-C513-40C3-8CF7-CC6FCB7F132C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AAD7-20C3-4158-9A47-2FC2BE054A02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0D6D-C513-40C3-8CF7-CC6FCB7F132C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AAD7-20C3-4158-9A47-2FC2BE054A02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86D0D6D-C513-40C3-8CF7-CC6FCB7F132C}" type="datetimeFigureOut">
              <a:rPr lang="ru-RU" smtClean="0"/>
              <a:pPr/>
              <a:t>30.11.2012</a:t>
            </a:fld>
            <a:endParaRPr lang="ru-RU" dirty="0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637AAD7-20C3-4158-9A47-2FC2BE054A02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1214414" y="714356"/>
            <a:ext cx="6858048" cy="1569660"/>
          </a:xfrm>
          <a:prstGeom prst="rect">
            <a:avLst/>
          </a:prstGeom>
          <a:effectLst>
            <a:outerShdw blurRad="88900" dir="7500000" sx="1000" sy="1000" algn="ctr" rotWithShape="0">
              <a:srgbClr val="000000">
                <a:alpha val="63000"/>
              </a:srgbClr>
            </a:outerShdw>
          </a:effectLst>
        </p:spPr>
        <p:txBody>
          <a:bodyPr wrap="square">
            <a:spAutoFit/>
          </a:bodyPr>
          <a:lstStyle/>
          <a:p>
            <a:pPr lvl="0" algn="ctr"/>
            <a:r>
              <a:rPr lang="ru-RU" sz="9600" b="1" cap="all" dirty="0" smtClean="0">
                <a:ln w="9000" cmpd="sng">
                  <a:solidFill>
                    <a:schemeClr val="accent3">
                      <a:lumMod val="60000"/>
                      <a:lumOff val="40000"/>
                    </a:schemeClr>
                  </a:solidFill>
                  <a:prstDash val="solid"/>
                </a:ln>
                <a:gradFill>
                  <a:gsLst>
                    <a:gs pos="0">
                      <a:srgbClr val="10CF9B">
                        <a:shade val="20000"/>
                        <a:satMod val="245000"/>
                      </a:srgbClr>
                    </a:gs>
                    <a:gs pos="43000">
                      <a:srgbClr val="10CF9B">
                        <a:satMod val="255000"/>
                      </a:srgbClr>
                    </a:gs>
                    <a:gs pos="48000">
                      <a:srgbClr val="10CF9B">
                        <a:shade val="85000"/>
                        <a:satMod val="255000"/>
                      </a:srgbClr>
                    </a:gs>
                    <a:gs pos="100000">
                      <a:srgbClr val="10CF9B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Алгебра</a:t>
            </a:r>
            <a:endParaRPr lang="ru-RU" sz="9600" b="1" cap="all" dirty="0">
              <a:ln w="9000" cmpd="sng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</a:ln>
              <a:gradFill>
                <a:gsLst>
                  <a:gs pos="0">
                    <a:srgbClr val="10CF9B">
                      <a:shade val="20000"/>
                      <a:satMod val="245000"/>
                    </a:srgbClr>
                  </a:gs>
                  <a:gs pos="43000">
                    <a:srgbClr val="10CF9B">
                      <a:satMod val="255000"/>
                    </a:srgbClr>
                  </a:gs>
                  <a:gs pos="48000">
                    <a:srgbClr val="10CF9B">
                      <a:shade val="85000"/>
                      <a:satMod val="255000"/>
                    </a:srgbClr>
                  </a:gs>
                  <a:gs pos="100000">
                    <a:srgbClr val="10CF9B">
                      <a:shade val="20000"/>
                      <a:satMod val="245000"/>
                    </a:srgb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143108" y="2500306"/>
            <a:ext cx="60007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                </a:t>
            </a:r>
            <a:r>
              <a:rPr lang="ru-RU" sz="4000" dirty="0" smtClean="0">
                <a:solidFill>
                  <a:srgbClr val="FFFF00"/>
                </a:solidFill>
              </a:rPr>
              <a:t>ОДНОЧЛЕНИ </a:t>
            </a:r>
          </a:p>
          <a:p>
            <a:r>
              <a:rPr lang="uk-UA" sz="4000" dirty="0" smtClean="0">
                <a:solidFill>
                  <a:srgbClr val="FFFF00"/>
                </a:solidFill>
              </a:rPr>
              <a:t>             7  клас</a:t>
            </a:r>
            <a:endParaRPr lang="ru-RU" sz="4000" dirty="0">
              <a:solidFill>
                <a:srgbClr val="FFFF00"/>
              </a:solidFill>
            </a:endParaRPr>
          </a:p>
        </p:txBody>
      </p:sp>
      <p:sp>
        <p:nvSpPr>
          <p:cNvPr id="5" name="Вертикальный свиток 4"/>
          <p:cNvSpPr/>
          <p:nvPr/>
        </p:nvSpPr>
        <p:spPr>
          <a:xfrm>
            <a:off x="5715008" y="4000504"/>
            <a:ext cx="2857488" cy="2428884"/>
          </a:xfrm>
          <a:prstGeom prst="verticalScroll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 smtClean="0">
              <a:solidFill>
                <a:srgbClr val="7030A0"/>
              </a:solidFill>
            </a:endParaRPr>
          </a:p>
          <a:p>
            <a:pPr algn="ctr"/>
            <a:r>
              <a:rPr lang="ru-RU" sz="2000" dirty="0" smtClean="0">
                <a:solidFill>
                  <a:srgbClr val="7030A0"/>
                </a:solidFill>
              </a:rPr>
              <a:t> </a:t>
            </a:r>
            <a:r>
              <a:rPr lang="ru-RU" sz="2000" dirty="0" err="1" smtClean="0">
                <a:solidFill>
                  <a:srgbClr val="7030A0"/>
                </a:solidFill>
              </a:rPr>
              <a:t>Корніяшик</a:t>
            </a:r>
            <a:r>
              <a:rPr lang="ru-RU" sz="2000" dirty="0" smtClean="0">
                <a:solidFill>
                  <a:srgbClr val="7030A0"/>
                </a:solidFill>
              </a:rPr>
              <a:t> Л.І</a:t>
            </a:r>
            <a:r>
              <a:rPr lang="ru-RU" sz="2000" dirty="0" smtClean="0">
                <a:solidFill>
                  <a:srgbClr val="7030A0"/>
                </a:solidFill>
              </a:rPr>
              <a:t>.</a:t>
            </a:r>
          </a:p>
          <a:p>
            <a:pPr algn="ctr"/>
            <a:r>
              <a:rPr lang="uk-UA" sz="2000" dirty="0" smtClean="0">
                <a:solidFill>
                  <a:srgbClr val="7030A0"/>
                </a:solidFill>
              </a:rPr>
              <a:t>вчитель</a:t>
            </a:r>
          </a:p>
          <a:p>
            <a:pPr algn="ctr"/>
            <a:r>
              <a:rPr lang="uk-UA" sz="2000" dirty="0" smtClean="0">
                <a:solidFill>
                  <a:srgbClr val="7030A0"/>
                </a:solidFill>
              </a:rPr>
              <a:t>математики</a:t>
            </a:r>
          </a:p>
          <a:p>
            <a:pPr algn="ctr"/>
            <a:r>
              <a:rPr lang="uk-UA" sz="2000" dirty="0" err="1" smtClean="0">
                <a:solidFill>
                  <a:srgbClr val="7030A0"/>
                </a:solidFill>
              </a:rPr>
              <a:t>Широківської</a:t>
            </a:r>
            <a:r>
              <a:rPr lang="uk-UA" sz="2000" dirty="0" smtClean="0">
                <a:solidFill>
                  <a:srgbClr val="7030A0"/>
                </a:solidFill>
              </a:rPr>
              <a:t> </a:t>
            </a:r>
          </a:p>
          <a:p>
            <a:pPr algn="ctr"/>
            <a:r>
              <a:rPr lang="uk-UA" sz="2000" dirty="0" smtClean="0">
                <a:solidFill>
                  <a:srgbClr val="7030A0"/>
                </a:solidFill>
              </a:rPr>
              <a:t>СЗШ №2</a:t>
            </a:r>
          </a:p>
          <a:p>
            <a:pPr algn="ctr"/>
            <a:endParaRPr lang="uk-UA" sz="2000" dirty="0" smtClean="0">
              <a:solidFill>
                <a:srgbClr val="7030A0"/>
              </a:solidFill>
            </a:endParaRPr>
          </a:p>
          <a:p>
            <a:pPr algn="ctr"/>
            <a:endParaRPr lang="ru-RU" sz="2000" dirty="0">
              <a:solidFill>
                <a:srgbClr val="7030A0"/>
              </a:solidFill>
            </a:endParaRPr>
          </a:p>
        </p:txBody>
      </p:sp>
      <p:pic>
        <p:nvPicPr>
          <p:cNvPr id="10" name="Рисунок 9" descr="4953356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5786" y="3571876"/>
            <a:ext cx="2357454" cy="2571762"/>
          </a:xfrm>
          <a:prstGeom prst="rect">
            <a:avLst/>
          </a:prstGeom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048007" y="214290"/>
            <a:ext cx="459569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ru-RU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endParaRPr lang="ru-RU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71472" y="571480"/>
            <a:ext cx="821537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8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Найпростіші вирази – числа, змінні, їх степені й добутки, називають </a:t>
            </a:r>
            <a:r>
              <a:rPr lang="uk-UA" sz="4800" b="1" i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одночленами</a:t>
            </a:r>
            <a:r>
              <a:rPr lang="uk-UA" sz="48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.</a:t>
            </a:r>
          </a:p>
          <a:p>
            <a:pPr algn="ctr"/>
            <a:endParaRPr lang="uk-UA" sz="3600" b="1" i="1" dirty="0" smtClean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Наприклад:</a:t>
            </a:r>
          </a:p>
          <a:p>
            <a:pPr algn="ctr"/>
            <a:endParaRPr lang="uk-UA" sz="3600" b="1" i="1" dirty="0" smtClean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5;  2ав; -2ху; -х²;  3а·5с.</a:t>
            </a:r>
          </a:p>
          <a:p>
            <a:pPr algn="ctr"/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</a:t>
            </a:r>
            <a:endParaRPr lang="ru-RU" sz="3600" b="1" i="1" dirty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82"/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5800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048007" y="214290"/>
            <a:ext cx="459569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ru-RU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endParaRPr lang="ru-RU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57158" y="1571613"/>
            <a:ext cx="821537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3600" b="1" i="1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Які з даних виразів є одночленами?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78а+в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3х⁵у⁶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6(</a:t>
            </a:r>
            <a:r>
              <a:rPr lang="uk-UA" sz="3600" b="1" i="1" dirty="0" err="1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а²-в²</a:t>
            </a:r>
            <a:r>
              <a:rPr lang="uk-UA" sz="3600" b="1" i="1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)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8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-3х³у⁵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8т⁴к³:11а⁵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uk-UA" sz="3600" b="1" i="1" dirty="0" err="1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т⁶т</a:t>
            </a:r>
            <a:r>
              <a:rPr lang="uk-UA" sz="3600" b="1" i="1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</a:p>
          <a:p>
            <a:pPr algn="ctr"/>
            <a:r>
              <a:rPr lang="uk-UA" sz="3600" b="1" i="1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uk-UA" sz="3600" b="1" i="1" dirty="0" smtClean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</a:t>
            </a:r>
            <a:endParaRPr lang="ru-RU" sz="3600" b="1" i="1" dirty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785850" y="928671"/>
            <a:ext cx="9715568" cy="67403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Перевір  себе  !</a:t>
            </a:r>
          </a:p>
          <a:p>
            <a:pPr algn="ctr"/>
            <a:endParaRPr lang="uk-UA" sz="3600" b="1" i="1" dirty="0" smtClean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Ні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Так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Ні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Так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Так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Ні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Так</a:t>
            </a:r>
          </a:p>
          <a:p>
            <a:pPr marL="742950" indent="-742950" algn="ctr">
              <a:buAutoNum type="arabicParenR"/>
            </a:pPr>
            <a:endParaRPr lang="uk-UA" sz="3600" b="1" i="1" dirty="0" smtClean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742950" indent="-742950" algn="ctr">
              <a:buAutoNum type="arabicParenR"/>
            </a:pPr>
            <a:endParaRPr lang="uk-UA" sz="3600" b="1" i="1" dirty="0" smtClean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endParaRPr lang="ru-RU" sz="3600" b="1" i="1" dirty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14346" y="428604"/>
            <a:ext cx="9358346" cy="67403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uk-UA" sz="4400" b="1" i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Якщо одночлен містить тільки один числовий множник, до того ж поставлений на перше місце, і якщо кожна змінна, яка входить в одночлен, зустрічається лише один раз, такий одночлен називається </a:t>
            </a:r>
            <a:r>
              <a:rPr lang="uk-UA" sz="4400" b="1" dirty="0" smtClean="0">
                <a:ln w="1905"/>
                <a:solidFill>
                  <a:schemeClr val="tx2">
                    <a:lumMod val="2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одночленом стандартного вигляду.</a:t>
            </a:r>
            <a:endParaRPr lang="uk-UA" sz="4400" b="1" i="1" dirty="0" smtClean="0">
              <a:ln w="1905"/>
              <a:solidFill>
                <a:schemeClr val="tx2">
                  <a:lumMod val="2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uk-UA" sz="3600" b="1" i="1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  </a:t>
            </a:r>
            <a:endParaRPr lang="uk-UA" sz="3600" b="1" i="1" dirty="0" smtClean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85720" y="0"/>
            <a:ext cx="5929354" cy="6715148"/>
          </a:xfrm>
        </p:spPr>
        <p:txBody>
          <a:bodyPr>
            <a:normAutofit/>
          </a:bodyPr>
          <a:lstStyle/>
          <a:p>
            <a:r>
              <a:rPr lang="uk-UA" sz="4400" i="1" dirty="0" smtClean="0"/>
              <a:t>Чи в стандартному вигляді одночлен ?</a:t>
            </a:r>
            <a:br>
              <a:rPr lang="uk-UA" sz="4400" i="1" dirty="0" smtClean="0"/>
            </a:br>
            <a:r>
              <a:rPr lang="uk-UA" sz="4400" i="1" dirty="0" smtClean="0"/>
              <a:t>1) 2х²·3у;</a:t>
            </a:r>
            <a:br>
              <a:rPr lang="uk-UA" sz="4400" i="1" dirty="0" smtClean="0"/>
            </a:br>
            <a:r>
              <a:rPr lang="uk-UA" sz="4400" i="1" dirty="0" smtClean="0"/>
              <a:t>2) 7а⁴в⁶с³;</a:t>
            </a:r>
            <a:br>
              <a:rPr lang="uk-UA" sz="4400" i="1" dirty="0" smtClean="0"/>
            </a:br>
            <a:r>
              <a:rPr lang="uk-UA" sz="4400" i="1" dirty="0" smtClean="0"/>
              <a:t>3) </a:t>
            </a:r>
            <a:r>
              <a:rPr lang="uk-UA" sz="4400" i="1" dirty="0" err="1" smtClean="0"/>
              <a:t>–хух⁵</a:t>
            </a:r>
            <a:r>
              <a:rPr lang="uk-UA" sz="4400" i="1" dirty="0" smtClean="0"/>
              <a:t>;</a:t>
            </a:r>
            <a:br>
              <a:rPr lang="uk-UA" sz="4400" i="1" dirty="0" smtClean="0"/>
            </a:br>
            <a:r>
              <a:rPr lang="uk-UA" sz="4400" i="1" dirty="0" smtClean="0"/>
              <a:t>4) т12;</a:t>
            </a:r>
            <a:br>
              <a:rPr lang="uk-UA" sz="4400" i="1" dirty="0" smtClean="0"/>
            </a:br>
            <a:r>
              <a:rPr lang="uk-UA" sz="4400" i="1" dirty="0" smtClean="0"/>
              <a:t>5) 45ав;</a:t>
            </a:r>
            <a:br>
              <a:rPr lang="uk-UA" sz="4400" i="1" dirty="0" smtClean="0"/>
            </a:br>
            <a:r>
              <a:rPr lang="uk-UA" sz="4400" i="1" dirty="0" smtClean="0"/>
              <a:t>6) </a:t>
            </a:r>
            <a:r>
              <a:rPr lang="uk-UA" sz="4400" i="1" dirty="0" err="1" smtClean="0"/>
              <a:t>тк⁸т⁹</a:t>
            </a:r>
            <a:r>
              <a:rPr lang="uk-UA" sz="4400" i="1" dirty="0" smtClean="0"/>
              <a:t>;</a:t>
            </a:r>
            <a:br>
              <a:rPr lang="uk-UA" sz="4400" i="1" dirty="0" smtClean="0"/>
            </a:br>
            <a:r>
              <a:rPr lang="uk-UA" sz="4400" i="1" dirty="0" smtClean="0"/>
              <a:t>7) 4а³в².                   </a:t>
            </a:r>
            <a:br>
              <a:rPr lang="uk-UA" sz="4400" i="1" dirty="0" smtClean="0"/>
            </a:br>
            <a:endParaRPr lang="ru-RU" sz="4400" i="1" dirty="0"/>
          </a:p>
        </p:txBody>
      </p:sp>
    </p:spTree>
  </p:cSld>
  <p:clrMapOvr>
    <a:masterClrMapping/>
  </p:clrMapOvr>
  <p:transition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785850" y="928671"/>
            <a:ext cx="9715568" cy="67403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Перевір  себе  !</a:t>
            </a:r>
          </a:p>
          <a:p>
            <a:pPr algn="ctr"/>
            <a:endParaRPr lang="uk-UA" sz="3600" b="1" i="1" dirty="0" smtClean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Ні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Так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Ні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Ні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Так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Ні</a:t>
            </a:r>
          </a:p>
          <a:p>
            <a:pPr marL="742950" indent="-742950" algn="ctr">
              <a:buAutoNum type="arabicParenR"/>
            </a:pPr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Так</a:t>
            </a:r>
          </a:p>
          <a:p>
            <a:pPr marL="742950" indent="-742950" algn="ctr">
              <a:buAutoNum type="arabicParenR"/>
            </a:pPr>
            <a:endParaRPr lang="uk-UA" sz="3600" b="1" i="1" dirty="0" smtClean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742950" indent="-742950" algn="ctr">
              <a:buAutoNum type="arabicParenR"/>
            </a:pPr>
            <a:endParaRPr lang="uk-UA" sz="3600" b="1" i="1" dirty="0" smtClean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endParaRPr lang="ru-RU" sz="3600" b="1" i="1" dirty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3571932" y="0"/>
            <a:ext cx="11358642" cy="5715016"/>
          </a:xfrm>
        </p:spPr>
        <p:txBody>
          <a:bodyPr>
            <a:normAutofit/>
          </a:bodyPr>
          <a:lstStyle/>
          <a:p>
            <a:r>
              <a:rPr lang="uk-UA" dirty="0" smtClean="0"/>
              <a:t>  </a:t>
            </a:r>
            <a:br>
              <a:rPr lang="uk-UA" dirty="0" smtClean="0"/>
            </a:br>
            <a:r>
              <a:rPr lang="uk-UA" dirty="0" smtClean="0">
                <a:solidFill>
                  <a:srgbClr val="FFFF00"/>
                </a:solidFill>
              </a:rPr>
              <a:t> </a:t>
            </a:r>
            <a:r>
              <a:rPr lang="uk-UA" dirty="0" smtClean="0"/>
              <a:t>                   </a:t>
            </a:r>
            <a:r>
              <a:rPr lang="uk-UA" dirty="0" smtClean="0">
                <a:solidFill>
                  <a:srgbClr val="56C709"/>
                </a:solidFill>
              </a:rPr>
              <a:t>                      </a:t>
            </a:r>
            <a:r>
              <a:rPr lang="uk-UA" dirty="0" smtClean="0"/>
              <a:t/>
            </a:r>
            <a:br>
              <a:rPr lang="uk-UA" dirty="0" smtClean="0"/>
            </a:br>
            <a:r>
              <a:rPr lang="uk-UA" dirty="0" smtClean="0"/>
              <a:t>  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57158" y="714356"/>
            <a:ext cx="8072494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uk-UA" sz="5400" b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Числовий множник одночлена, записаного в стандартному вигляді, називають </a:t>
            </a:r>
            <a:r>
              <a:rPr lang="uk-UA" sz="5400" b="1" i="1" dirty="0" smtClean="0">
                <a:ln>
                  <a:prstDash val="solid"/>
                </a:ln>
                <a:solidFill>
                  <a:srgbClr val="FF000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коефіцієнтом</a:t>
            </a:r>
            <a:endParaRPr lang="ru-RU" sz="5400" b="1" i="1" dirty="0" smtClean="0">
              <a:ln>
                <a:prstDash val="solid"/>
              </a:ln>
              <a:solidFill>
                <a:schemeClr val="accent3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  <a:p>
            <a:pPr algn="ctr"/>
            <a:r>
              <a:rPr lang="uk-UA" sz="5400" b="1" dirty="0" smtClean="0">
                <a:ln>
                  <a:prstDash val="solid"/>
                </a:ln>
                <a:solidFill>
                  <a:schemeClr val="accent3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одночлена.</a:t>
            </a:r>
            <a:endParaRPr lang="uk-UA" sz="5400" b="1" dirty="0" smtClean="0">
              <a:ln>
                <a:prstDash val="solid"/>
              </a:ln>
              <a:solidFill>
                <a:schemeClr val="bg1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pic>
        <p:nvPicPr>
          <p:cNvPr id="5" name="Рисунок 4" descr="4954065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16" y="4572008"/>
            <a:ext cx="1928826" cy="192882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048007" y="214290"/>
            <a:ext cx="459569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ru-RU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endParaRPr lang="ru-RU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71472" y="571480"/>
            <a:ext cx="821537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48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Наприклад:</a:t>
            </a:r>
          </a:p>
          <a:p>
            <a:pPr algn="ctr"/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34с⁸ав⁴</a:t>
            </a:r>
          </a:p>
          <a:p>
            <a:pPr algn="ctr"/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34 – коефіцієнт ;</a:t>
            </a:r>
          </a:p>
          <a:p>
            <a:pPr algn="ctr"/>
            <a:r>
              <a:rPr lang="uk-UA" sz="3600" b="1" i="1" dirty="0" err="1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-х²у⁵</a:t>
            </a:r>
            <a:endParaRPr lang="uk-UA" sz="3600" b="1" i="1" dirty="0" smtClean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-1 – коефіцієнт ;</a:t>
            </a:r>
          </a:p>
          <a:p>
            <a:pPr algn="ctr"/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0,5т³к⁵</a:t>
            </a:r>
          </a:p>
          <a:p>
            <a:pPr algn="ctr"/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0,5 – коефіцієнт.</a:t>
            </a:r>
          </a:p>
          <a:p>
            <a:pPr algn="ctr"/>
            <a:endParaRPr lang="uk-UA" sz="3600" b="1" i="1" dirty="0" smtClean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uk-UA" sz="3600" b="1" i="1" dirty="0" smtClean="0">
                <a:ln w="1905"/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</a:t>
            </a:r>
            <a:endParaRPr lang="ru-RU" sz="3600" b="1" i="1" dirty="0">
              <a:ln w="1905"/>
              <a:solidFill>
                <a:srgbClr val="92D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CCCFF"/>
            </a:gs>
            <a:gs pos="17999">
              <a:srgbClr val="99CCFF"/>
            </a:gs>
            <a:gs pos="36000">
              <a:srgbClr val="9966FF"/>
            </a:gs>
            <a:gs pos="61000">
              <a:srgbClr val="CC99FF"/>
            </a:gs>
            <a:gs pos="82001">
              <a:srgbClr val="99CCFF"/>
            </a:gs>
            <a:gs pos="100000">
              <a:srgbClr val="CCCC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3571932" y="357166"/>
            <a:ext cx="12144460" cy="6500834"/>
          </a:xfrm>
        </p:spPr>
        <p:txBody>
          <a:bodyPr>
            <a:normAutofit fontScale="90000"/>
          </a:bodyPr>
          <a:lstStyle/>
          <a:p>
            <a:r>
              <a:rPr lang="uk-UA" sz="4000" dirty="0" smtClean="0">
                <a:solidFill>
                  <a:srgbClr val="FF0000"/>
                </a:solidFill>
              </a:rPr>
              <a:t>Щоб перемножити одночлени, числові  </a:t>
            </a:r>
            <a:br>
              <a:rPr lang="uk-UA" sz="4000" dirty="0" smtClean="0">
                <a:solidFill>
                  <a:srgbClr val="FF0000"/>
                </a:solidFill>
              </a:rPr>
            </a:br>
            <a:r>
              <a:rPr lang="uk-UA" sz="4000" dirty="0" smtClean="0">
                <a:solidFill>
                  <a:srgbClr val="FF0000"/>
                </a:solidFill>
              </a:rPr>
              <a:t>множники </a:t>
            </a:r>
            <a:r>
              <a:rPr lang="uk-UA" sz="4000" dirty="0" err="1" smtClean="0">
                <a:solidFill>
                  <a:srgbClr val="FF0000"/>
                </a:solidFill>
              </a:rPr>
              <a:t>перемножають</a:t>
            </a:r>
            <a:r>
              <a:rPr lang="uk-UA" sz="4000" dirty="0" smtClean="0">
                <a:solidFill>
                  <a:srgbClr val="FF0000"/>
                </a:solidFill>
              </a:rPr>
              <a:t>, а до буквених</a:t>
            </a:r>
            <a:br>
              <a:rPr lang="uk-UA" sz="4000" dirty="0" smtClean="0">
                <a:solidFill>
                  <a:srgbClr val="FF0000"/>
                </a:solidFill>
              </a:rPr>
            </a:br>
            <a:r>
              <a:rPr lang="uk-UA" sz="4000" dirty="0" smtClean="0">
                <a:solidFill>
                  <a:srgbClr val="FF0000"/>
                </a:solidFill>
              </a:rPr>
              <a:t>застосовують правило множення степенів</a:t>
            </a:r>
            <a:r>
              <a:rPr lang="uk-UA" sz="4000" dirty="0" smtClean="0"/>
              <a:t/>
            </a:r>
            <a:br>
              <a:rPr lang="uk-UA" sz="4000" dirty="0" smtClean="0"/>
            </a:br>
            <a:r>
              <a:rPr lang="uk-UA" sz="4000" dirty="0" smtClean="0">
                <a:solidFill>
                  <a:srgbClr val="FF0000"/>
                </a:solidFill>
              </a:rPr>
              <a:t>з однаковими основами.</a:t>
            </a:r>
            <a:r>
              <a:rPr lang="uk-UA" sz="4000" dirty="0" smtClean="0">
                <a:solidFill>
                  <a:srgbClr val="FFC000"/>
                </a:solidFill>
              </a:rPr>
              <a:t/>
            </a:r>
            <a:br>
              <a:rPr lang="uk-UA" sz="4000" dirty="0" smtClean="0">
                <a:solidFill>
                  <a:srgbClr val="FFC000"/>
                </a:solidFill>
              </a:rPr>
            </a:br>
            <a:r>
              <a:rPr lang="uk-UA" sz="4000" dirty="0" smtClean="0">
                <a:solidFill>
                  <a:srgbClr val="FFC000"/>
                </a:solidFill>
              </a:rPr>
              <a:t/>
            </a:r>
            <a:br>
              <a:rPr lang="uk-UA" sz="4000" dirty="0" smtClean="0">
                <a:solidFill>
                  <a:srgbClr val="FFC000"/>
                </a:solidFill>
              </a:rPr>
            </a:br>
            <a:r>
              <a:rPr lang="uk-UA" sz="4000" i="1" dirty="0" smtClean="0">
                <a:solidFill>
                  <a:srgbClr val="FFC000"/>
                </a:solidFill>
              </a:rPr>
              <a:t>Наприклад: </a:t>
            </a:r>
            <a:r>
              <a:rPr lang="uk-UA" sz="4000" dirty="0" smtClean="0">
                <a:solidFill>
                  <a:srgbClr val="FFC000"/>
                </a:solidFill>
              </a:rPr>
              <a:t/>
            </a:r>
            <a:br>
              <a:rPr lang="uk-UA" sz="4000" dirty="0" smtClean="0">
                <a:solidFill>
                  <a:srgbClr val="FFC000"/>
                </a:solidFill>
              </a:rPr>
            </a:br>
            <a:r>
              <a:rPr lang="uk-UA" sz="4000" dirty="0" smtClean="0">
                <a:solidFill>
                  <a:srgbClr val="FFC000"/>
                </a:solidFill>
              </a:rPr>
              <a:t>5ав²·(-0,3а²в³)=5·(-0,3)</a:t>
            </a:r>
            <a:r>
              <a:rPr lang="uk-UA" sz="4000" dirty="0" err="1" smtClean="0">
                <a:solidFill>
                  <a:srgbClr val="FFC000"/>
                </a:solidFill>
              </a:rPr>
              <a:t>аа²в²в³=</a:t>
            </a:r>
            <a:r>
              <a:rPr lang="uk-UA" sz="4000" dirty="0" smtClean="0">
                <a:solidFill>
                  <a:srgbClr val="FFC000"/>
                </a:solidFill>
              </a:rPr>
              <a:t/>
            </a:r>
            <a:br>
              <a:rPr lang="uk-UA" sz="4000" dirty="0" smtClean="0">
                <a:solidFill>
                  <a:srgbClr val="FFC000"/>
                </a:solidFill>
              </a:rPr>
            </a:br>
            <a:r>
              <a:rPr lang="uk-UA" sz="4000" dirty="0" smtClean="0">
                <a:solidFill>
                  <a:srgbClr val="FFC000"/>
                </a:solidFill>
              </a:rPr>
              <a:t>=-1,5а³в⁵ </a:t>
            </a:r>
            <a:br>
              <a:rPr lang="uk-UA" sz="4000" dirty="0" smtClean="0">
                <a:solidFill>
                  <a:srgbClr val="FFC000"/>
                </a:solidFill>
              </a:rPr>
            </a:br>
            <a:r>
              <a:rPr lang="uk-UA" sz="4000" dirty="0" smtClean="0">
                <a:solidFill>
                  <a:srgbClr val="FFC000"/>
                </a:solidFill>
              </a:rPr>
              <a:t/>
            </a:r>
            <a:br>
              <a:rPr lang="uk-UA" sz="4000" dirty="0" smtClean="0">
                <a:solidFill>
                  <a:srgbClr val="FFC000"/>
                </a:solidFill>
              </a:rPr>
            </a:br>
            <a:r>
              <a:rPr lang="uk-UA" sz="4000" dirty="0" smtClean="0"/>
              <a:t/>
            </a:r>
            <a:br>
              <a:rPr lang="uk-UA" sz="4000" dirty="0" smtClean="0"/>
            </a:br>
            <a:r>
              <a:rPr lang="uk-UA" sz="4000" dirty="0" smtClean="0"/>
              <a:t> </a:t>
            </a:r>
            <a:br>
              <a:rPr lang="uk-UA" sz="4000" dirty="0" smtClean="0"/>
            </a:br>
            <a:r>
              <a:rPr lang="uk-UA" sz="3600" dirty="0" smtClean="0"/>
              <a:t>  </a:t>
            </a:r>
            <a:endParaRPr lang="ru-RU" sz="3600" dirty="0"/>
          </a:p>
        </p:txBody>
      </p:sp>
      <p:pic>
        <p:nvPicPr>
          <p:cNvPr id="4" name="Рисунок 3" descr="i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5720" y="4500570"/>
            <a:ext cx="2357454" cy="1997080"/>
          </a:xfrm>
          <a:prstGeom prst="rect">
            <a:avLst/>
          </a:prstGeom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305800" cy="4214842"/>
          </a:xfrm>
        </p:spPr>
        <p:txBody>
          <a:bodyPr>
            <a:normAutofit fontScale="90000"/>
          </a:bodyPr>
          <a:lstStyle/>
          <a:p>
            <a:r>
              <a:rPr lang="uk-UA" sz="4400" dirty="0" smtClean="0">
                <a:solidFill>
                  <a:srgbClr val="FF0000"/>
                </a:solidFill>
              </a:rPr>
              <a:t>   </a:t>
            </a:r>
            <a:r>
              <a:rPr lang="uk-UA" sz="4400" dirty="0" smtClean="0">
                <a:solidFill>
                  <a:srgbClr val="C010B3"/>
                </a:solidFill>
              </a:rPr>
              <a:t>Суму показників змінних в одночлені називають </a:t>
            </a:r>
            <a:r>
              <a:rPr lang="uk-UA" sz="4400" b="1" i="1" dirty="0" smtClean="0">
                <a:solidFill>
                  <a:srgbClr val="C010B3"/>
                </a:solidFill>
              </a:rPr>
              <a:t>степенем  одночлена.</a:t>
            </a:r>
            <a:r>
              <a:rPr lang="uk-UA" sz="4400" b="1" i="1" dirty="0" smtClean="0">
                <a:solidFill>
                  <a:srgbClr val="FF0000"/>
                </a:solidFill>
              </a:rPr>
              <a:t/>
            </a:r>
            <a:br>
              <a:rPr lang="uk-UA" sz="4400" b="1" i="1" dirty="0" smtClean="0">
                <a:solidFill>
                  <a:srgbClr val="FF0000"/>
                </a:solidFill>
              </a:rPr>
            </a:br>
            <a:r>
              <a:rPr lang="uk-UA" sz="4400" b="1" i="1" dirty="0" smtClean="0">
                <a:solidFill>
                  <a:schemeClr val="accent1"/>
                </a:solidFill>
              </a:rPr>
              <a:t>Наприклад:</a:t>
            </a:r>
            <a:br>
              <a:rPr lang="uk-UA" sz="4400" b="1" i="1" dirty="0" smtClean="0">
                <a:solidFill>
                  <a:schemeClr val="accent1"/>
                </a:solidFill>
              </a:rPr>
            </a:br>
            <a:r>
              <a:rPr lang="uk-UA" sz="4400" b="1" i="1" dirty="0" err="1" smtClean="0">
                <a:solidFill>
                  <a:schemeClr val="accent1"/>
                </a:solidFill>
              </a:rPr>
              <a:t>-а²в³с⁴</a:t>
            </a:r>
            <a:r>
              <a:rPr lang="uk-UA" sz="4400" b="1" i="1" dirty="0" smtClean="0">
                <a:solidFill>
                  <a:schemeClr val="accent1"/>
                </a:solidFill>
              </a:rPr>
              <a:t>    степінь одночлена  9,тому </a:t>
            </a:r>
            <a:br>
              <a:rPr lang="uk-UA" sz="4400" b="1" i="1" dirty="0" smtClean="0">
                <a:solidFill>
                  <a:schemeClr val="accent1"/>
                </a:solidFill>
              </a:rPr>
            </a:br>
            <a:r>
              <a:rPr lang="uk-UA" sz="4400" b="1" i="1" dirty="0" smtClean="0">
                <a:solidFill>
                  <a:schemeClr val="accent1"/>
                </a:solidFill>
              </a:rPr>
              <a:t>                     що       2+3+4=9</a:t>
            </a:r>
            <a:endParaRPr lang="ru-RU" sz="3200" dirty="0">
              <a:solidFill>
                <a:srgbClr val="00B0F0"/>
              </a:solidFill>
            </a:endParaRPr>
          </a:p>
        </p:txBody>
      </p:sp>
      <p:pic>
        <p:nvPicPr>
          <p:cNvPr id="3" name="Рисунок 2" descr="4953751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58082" y="214290"/>
            <a:ext cx="1643074" cy="1714506"/>
          </a:xfrm>
          <a:prstGeom prst="rect">
            <a:avLst/>
          </a:prstGeom>
        </p:spPr>
      </p:pic>
      <p:pic>
        <p:nvPicPr>
          <p:cNvPr id="4" name="Рисунок 3" descr="4953576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7158" y="4572008"/>
            <a:ext cx="1857388" cy="1857388"/>
          </a:xfrm>
          <a:prstGeom prst="rect">
            <a:avLst/>
          </a:prstGeom>
        </p:spPr>
      </p:pic>
    </p:spTree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488C4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642918"/>
            <a:ext cx="8305800" cy="4510862"/>
          </a:xfrm>
        </p:spPr>
        <p:txBody>
          <a:bodyPr>
            <a:normAutofit fontScale="90000"/>
          </a:bodyPr>
          <a:lstStyle/>
          <a:p>
            <a:r>
              <a:rPr lang="uk-UA" sz="4400" dirty="0" smtClean="0">
                <a:solidFill>
                  <a:srgbClr val="FFFF00"/>
                </a:solidFill>
              </a:rPr>
              <a:t>   Щоб піднести до степеня одночлен, слід піднести до цього степеня кожний множник одночлена і знайдені степені  перемножити.</a:t>
            </a:r>
            <a:br>
              <a:rPr lang="uk-UA" sz="4400" dirty="0" smtClean="0">
                <a:solidFill>
                  <a:srgbClr val="FFFF00"/>
                </a:solidFill>
              </a:rPr>
            </a:br>
            <a:r>
              <a:rPr lang="uk-UA" sz="4400" dirty="0" smtClean="0">
                <a:solidFill>
                  <a:srgbClr val="FFFF00"/>
                </a:solidFill>
              </a:rPr>
              <a:t>Наприклад:</a:t>
            </a:r>
            <a:br>
              <a:rPr lang="uk-UA" sz="4400" dirty="0" smtClean="0">
                <a:solidFill>
                  <a:srgbClr val="FFFF00"/>
                </a:solidFill>
              </a:rPr>
            </a:br>
            <a:r>
              <a:rPr lang="uk-UA" sz="4400" dirty="0" smtClean="0">
                <a:solidFill>
                  <a:srgbClr val="FFFF00"/>
                </a:solidFill>
              </a:rPr>
              <a:t>(3</a:t>
            </a:r>
            <a:r>
              <a:rPr lang="en-US" sz="4400" dirty="0" smtClean="0">
                <a:solidFill>
                  <a:srgbClr val="FFFF00"/>
                </a:solidFill>
              </a:rPr>
              <a:t>m</a:t>
            </a:r>
            <a:r>
              <a:rPr lang="uk-UA" sz="4400" dirty="0" smtClean="0">
                <a:solidFill>
                  <a:srgbClr val="FFFF00"/>
                </a:solidFill>
              </a:rPr>
              <a:t>у²)⁴=3⁴</a:t>
            </a:r>
            <a:r>
              <a:rPr lang="en-US" sz="4400" dirty="0" smtClean="0">
                <a:solidFill>
                  <a:srgbClr val="FFFF00"/>
                </a:solidFill>
              </a:rPr>
              <a:t>m</a:t>
            </a:r>
            <a:r>
              <a:rPr lang="uk-UA" sz="4400" dirty="0" smtClean="0">
                <a:solidFill>
                  <a:srgbClr val="FFFF00"/>
                </a:solidFill>
              </a:rPr>
              <a:t>⁴(у²)⁴=81</a:t>
            </a:r>
            <a:r>
              <a:rPr lang="en-US" sz="4400" dirty="0" smtClean="0">
                <a:solidFill>
                  <a:srgbClr val="FFFF00"/>
                </a:solidFill>
              </a:rPr>
              <a:t>m</a:t>
            </a:r>
            <a:r>
              <a:rPr lang="uk-UA" sz="4400" dirty="0" smtClean="0">
                <a:solidFill>
                  <a:srgbClr val="FFFF00"/>
                </a:solidFill>
              </a:rPr>
              <a:t>⁴у⁸</a:t>
            </a:r>
            <a:r>
              <a:rPr lang="uk-UA" sz="3200" i="1" dirty="0" smtClean="0">
                <a:solidFill>
                  <a:srgbClr val="ECFC1C"/>
                </a:solidFill>
              </a:rPr>
              <a:t> </a:t>
            </a:r>
            <a:r>
              <a:rPr lang="en-US" sz="3200" i="1" dirty="0" smtClean="0">
                <a:solidFill>
                  <a:srgbClr val="ECFC1C"/>
                </a:solidFill>
              </a:rPr>
              <a:t> </a:t>
            </a:r>
            <a:endParaRPr lang="ru-RU" sz="3200" dirty="0">
              <a:solidFill>
                <a:srgbClr val="ECFC1C"/>
              </a:solidFill>
            </a:endParaRPr>
          </a:p>
        </p:txBody>
      </p:sp>
      <p:pic>
        <p:nvPicPr>
          <p:cNvPr id="3" name="Рисунок 2" descr="5269965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58082" y="4572008"/>
            <a:ext cx="1428760" cy="1214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305800" cy="6500834"/>
          </a:xfrm>
          <a:scene3d>
            <a:camera prst="orthographicFront"/>
            <a:lightRig rig="freezing" dir="t">
              <a:rot lat="0" lon="0" rev="5640000"/>
            </a:lightRig>
          </a:scene3d>
          <a:sp3d>
            <a:bevelT prst="relaxedInset"/>
          </a:sp3d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r>
              <a:rPr lang="uk-UA" sz="4400" dirty="0" smtClean="0">
                <a:solidFill>
                  <a:srgbClr val="ECFC1C"/>
                </a:solidFill>
              </a:rPr>
              <a:t>СПРОБУЙ СВОЇ СИЛИ</a:t>
            </a:r>
            <a:br>
              <a:rPr lang="uk-UA" sz="4400" dirty="0" smtClean="0">
                <a:solidFill>
                  <a:srgbClr val="ECFC1C"/>
                </a:solidFill>
              </a:rPr>
            </a:br>
            <a:r>
              <a:rPr lang="uk-UA" sz="4400" dirty="0" smtClean="0">
                <a:solidFill>
                  <a:srgbClr val="ECFC1C"/>
                </a:solidFill>
              </a:rPr>
              <a:t/>
            </a:r>
            <a:br>
              <a:rPr lang="uk-UA" sz="4400" dirty="0" smtClean="0">
                <a:solidFill>
                  <a:srgbClr val="ECFC1C"/>
                </a:solidFill>
              </a:rPr>
            </a:br>
            <a:r>
              <a:rPr lang="uk-UA" sz="3200" b="1" i="1" dirty="0" smtClean="0">
                <a:solidFill>
                  <a:srgbClr val="ECFC1C"/>
                </a:solidFill>
              </a:rPr>
              <a:t>Перемножте одночлени.</a:t>
            </a:r>
            <a:br>
              <a:rPr lang="uk-UA" sz="3200" b="1" i="1" dirty="0" smtClean="0">
                <a:solidFill>
                  <a:srgbClr val="ECFC1C"/>
                </a:solidFill>
              </a:rPr>
            </a:br>
            <a:r>
              <a:rPr lang="uk-UA" sz="3200" b="1" i="1" dirty="0" smtClean="0">
                <a:solidFill>
                  <a:srgbClr val="ECFC1C"/>
                </a:solidFill>
              </a:rPr>
              <a:t/>
            </a:r>
            <a:br>
              <a:rPr lang="uk-UA" sz="3200" b="1" i="1" dirty="0" smtClean="0">
                <a:solidFill>
                  <a:srgbClr val="ECFC1C"/>
                </a:solidFill>
              </a:rPr>
            </a:br>
            <a:r>
              <a:rPr lang="uk-UA" sz="3200" b="1" i="1" dirty="0" smtClean="0">
                <a:solidFill>
                  <a:srgbClr val="ECFC1C"/>
                </a:solidFill>
              </a:rPr>
              <a:t>1) 2ав·3а²с</a:t>
            </a:r>
            <a:br>
              <a:rPr lang="uk-UA" sz="3200" b="1" i="1" dirty="0" smtClean="0">
                <a:solidFill>
                  <a:srgbClr val="ECFC1C"/>
                </a:solidFill>
              </a:rPr>
            </a:br>
            <a:r>
              <a:rPr lang="uk-UA" sz="3200" b="1" i="1" dirty="0" smtClean="0">
                <a:solidFill>
                  <a:srgbClr val="ECFC1C"/>
                </a:solidFill>
              </a:rPr>
              <a:t>2) -а</a:t>
            </a:r>
            <a:r>
              <a:rPr lang="en-US" sz="3200" b="1" i="1" dirty="0" smtClean="0">
                <a:solidFill>
                  <a:srgbClr val="ECFC1C"/>
                </a:solidFill>
              </a:rPr>
              <a:t>m</a:t>
            </a:r>
            <a:r>
              <a:rPr lang="uk-UA" sz="3200" b="1" i="1" dirty="0" smtClean="0">
                <a:solidFill>
                  <a:srgbClr val="ECFC1C"/>
                </a:solidFill>
              </a:rPr>
              <a:t>²·3</a:t>
            </a:r>
            <a:r>
              <a:rPr lang="en-US" sz="3200" b="1" i="1" dirty="0" smtClean="0">
                <a:solidFill>
                  <a:srgbClr val="ECFC1C"/>
                </a:solidFill>
              </a:rPr>
              <a:t>m³p</a:t>
            </a:r>
            <a:br>
              <a:rPr lang="en-US" sz="3200" b="1" i="1" dirty="0" smtClean="0">
                <a:solidFill>
                  <a:srgbClr val="ECFC1C"/>
                </a:solidFill>
              </a:rPr>
            </a:br>
            <a:r>
              <a:rPr lang="en-US" sz="3200" b="1" i="1" dirty="0" smtClean="0">
                <a:solidFill>
                  <a:srgbClr val="ECFC1C"/>
                </a:solidFill>
              </a:rPr>
              <a:t>3) 0</a:t>
            </a:r>
            <a:r>
              <a:rPr lang="uk-UA" sz="3200" b="1" i="1" dirty="0" smtClean="0">
                <a:solidFill>
                  <a:srgbClr val="ECFC1C"/>
                </a:solidFill>
              </a:rPr>
              <a:t>,2ху·(-5ху)</a:t>
            </a:r>
            <a:br>
              <a:rPr lang="uk-UA" sz="3200" b="1" i="1" dirty="0" smtClean="0">
                <a:solidFill>
                  <a:srgbClr val="ECFC1C"/>
                </a:solidFill>
              </a:rPr>
            </a:br>
            <a:r>
              <a:rPr lang="uk-UA" sz="3200" b="1" i="1" dirty="0" smtClean="0">
                <a:solidFill>
                  <a:srgbClr val="ECFC1C"/>
                </a:solidFill>
              </a:rPr>
              <a:t>4) </a:t>
            </a:r>
            <a:r>
              <a:rPr lang="uk-UA" sz="3200" b="1" i="1" dirty="0" err="1" smtClean="0">
                <a:solidFill>
                  <a:srgbClr val="ECFC1C"/>
                </a:solidFill>
              </a:rPr>
              <a:t>авс</a:t>
            </a:r>
            <a:r>
              <a:rPr lang="en-US" sz="3200" b="1" i="1" dirty="0" smtClean="0">
                <a:solidFill>
                  <a:srgbClr val="ECFC1C"/>
                </a:solidFill>
              </a:rPr>
              <a:t>d·(-</a:t>
            </a:r>
            <a:r>
              <a:rPr lang="uk-UA" sz="3200" b="1" i="1" dirty="0" err="1" smtClean="0">
                <a:solidFill>
                  <a:srgbClr val="ECFC1C"/>
                </a:solidFill>
              </a:rPr>
              <a:t>ав</a:t>
            </a:r>
            <a:r>
              <a:rPr lang="en-US" sz="3200" b="1" i="1" dirty="0" smtClean="0">
                <a:solidFill>
                  <a:srgbClr val="ECFC1C"/>
                </a:solidFill>
              </a:rPr>
              <a:t>²</a:t>
            </a:r>
            <a:r>
              <a:rPr lang="uk-UA" sz="3200" b="1" i="1" dirty="0" smtClean="0">
                <a:solidFill>
                  <a:srgbClr val="ECFC1C"/>
                </a:solidFill>
              </a:rPr>
              <a:t>с³)</a:t>
            </a:r>
            <a:br>
              <a:rPr lang="uk-UA" sz="3200" b="1" i="1" dirty="0" smtClean="0">
                <a:solidFill>
                  <a:srgbClr val="ECFC1C"/>
                </a:solidFill>
              </a:rPr>
            </a:br>
            <a:r>
              <a:rPr lang="uk-UA" sz="3200" b="1" i="1" dirty="0" smtClean="0">
                <a:solidFill>
                  <a:srgbClr val="ECFC1C"/>
                </a:solidFill>
              </a:rPr>
              <a:t>5) -2а²у⁴·0,7аус</a:t>
            </a:r>
            <a:br>
              <a:rPr lang="uk-UA" sz="3200" b="1" i="1" dirty="0" smtClean="0">
                <a:solidFill>
                  <a:srgbClr val="ECFC1C"/>
                </a:solidFill>
              </a:rPr>
            </a:br>
            <a:r>
              <a:rPr lang="uk-UA" sz="3200" b="1" i="1" dirty="0" smtClean="0">
                <a:solidFill>
                  <a:srgbClr val="ECFC1C"/>
                </a:solidFill>
              </a:rPr>
              <a:t/>
            </a:r>
            <a:br>
              <a:rPr lang="uk-UA" sz="3200" b="1" i="1" dirty="0" smtClean="0">
                <a:solidFill>
                  <a:srgbClr val="ECFC1C"/>
                </a:solidFill>
              </a:rPr>
            </a:br>
            <a:endParaRPr lang="ru-RU" sz="3200" dirty="0">
              <a:solidFill>
                <a:srgbClr val="ECFC1C"/>
              </a:solidFill>
            </a:endParaRPr>
          </a:p>
        </p:txBody>
      </p:sp>
      <p:pic>
        <p:nvPicPr>
          <p:cNvPr id="4" name="Рисунок 3" descr="30[1]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00797" y="4929198"/>
            <a:ext cx="2643203" cy="1557346"/>
          </a:xfrm>
          <a:prstGeom prst="rect">
            <a:avLst/>
          </a:prstGeom>
        </p:spPr>
      </p:pic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99FF"/>
            </a:gs>
            <a:gs pos="16000">
              <a:srgbClr val="00CCCC"/>
            </a:gs>
            <a:gs pos="47000">
              <a:srgbClr val="9999FF"/>
            </a:gs>
            <a:gs pos="60001">
              <a:srgbClr val="2E6792"/>
            </a:gs>
            <a:gs pos="71001">
              <a:srgbClr val="3333CC"/>
            </a:gs>
            <a:gs pos="81000">
              <a:srgbClr val="1170FF"/>
            </a:gs>
            <a:gs pos="100000">
              <a:srgbClr val="00669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5984" y="704088"/>
            <a:ext cx="6858016" cy="5225242"/>
          </a:xfrm>
        </p:spPr>
        <p:txBody>
          <a:bodyPr>
            <a:normAutofit fontScale="90000"/>
          </a:bodyPr>
          <a:lstStyle/>
          <a:p>
            <a:r>
              <a:rPr lang="uk-UA" dirty="0" smtClean="0"/>
              <a:t>   </a:t>
            </a:r>
            <a:r>
              <a:rPr lang="uk-UA" dirty="0" smtClean="0">
                <a:solidFill>
                  <a:srgbClr val="00FF00"/>
                </a:solidFill>
              </a:rPr>
              <a:t>ПЕРЕВІР СЕБЕ !</a:t>
            </a:r>
            <a:br>
              <a:rPr lang="uk-UA" dirty="0" smtClean="0">
                <a:solidFill>
                  <a:srgbClr val="00FF00"/>
                </a:solidFill>
              </a:rPr>
            </a:br>
            <a:r>
              <a:rPr lang="uk-UA" dirty="0" smtClean="0">
                <a:solidFill>
                  <a:srgbClr val="00FF00"/>
                </a:solidFill>
              </a:rPr>
              <a:t>1) 6а³вс;</a:t>
            </a:r>
            <a:br>
              <a:rPr lang="uk-UA" dirty="0" smtClean="0">
                <a:solidFill>
                  <a:srgbClr val="00FF00"/>
                </a:solidFill>
              </a:rPr>
            </a:br>
            <a:r>
              <a:rPr lang="uk-UA" dirty="0" smtClean="0">
                <a:solidFill>
                  <a:srgbClr val="00FF00"/>
                </a:solidFill>
              </a:rPr>
              <a:t>2) -3а</a:t>
            </a:r>
            <a:r>
              <a:rPr lang="en-US" dirty="0" err="1" smtClean="0">
                <a:solidFill>
                  <a:srgbClr val="00FF00"/>
                </a:solidFill>
              </a:rPr>
              <a:t>m⁵p</a:t>
            </a:r>
            <a:r>
              <a:rPr lang="uk-UA" dirty="0" smtClean="0">
                <a:solidFill>
                  <a:srgbClr val="00FF00"/>
                </a:solidFill>
              </a:rPr>
              <a:t>;</a:t>
            </a:r>
            <a:br>
              <a:rPr lang="uk-UA" dirty="0" smtClean="0">
                <a:solidFill>
                  <a:srgbClr val="00FF00"/>
                </a:solidFill>
              </a:rPr>
            </a:br>
            <a:r>
              <a:rPr lang="uk-UA" dirty="0" smtClean="0">
                <a:solidFill>
                  <a:srgbClr val="00FF00"/>
                </a:solidFill>
              </a:rPr>
              <a:t>3) </a:t>
            </a:r>
            <a:r>
              <a:rPr lang="uk-UA" dirty="0" err="1" smtClean="0">
                <a:solidFill>
                  <a:srgbClr val="00FF00"/>
                </a:solidFill>
              </a:rPr>
              <a:t>–х²у²</a:t>
            </a:r>
            <a:r>
              <a:rPr lang="uk-UA" dirty="0" smtClean="0">
                <a:solidFill>
                  <a:srgbClr val="00FF00"/>
                </a:solidFill>
              </a:rPr>
              <a:t>;</a:t>
            </a:r>
            <a:br>
              <a:rPr lang="uk-UA" dirty="0" smtClean="0">
                <a:solidFill>
                  <a:srgbClr val="00FF00"/>
                </a:solidFill>
              </a:rPr>
            </a:br>
            <a:r>
              <a:rPr lang="uk-UA" dirty="0" smtClean="0">
                <a:solidFill>
                  <a:srgbClr val="00FF00"/>
                </a:solidFill>
              </a:rPr>
              <a:t>4) </a:t>
            </a:r>
            <a:r>
              <a:rPr lang="uk-UA" dirty="0" err="1" smtClean="0">
                <a:solidFill>
                  <a:srgbClr val="00FF00"/>
                </a:solidFill>
              </a:rPr>
              <a:t>–а²в³с⁴</a:t>
            </a:r>
            <a:r>
              <a:rPr lang="en-US" dirty="0" smtClean="0">
                <a:solidFill>
                  <a:srgbClr val="00FF00"/>
                </a:solidFill>
              </a:rPr>
              <a:t>d</a:t>
            </a:r>
            <a:r>
              <a:rPr lang="uk-UA" dirty="0" smtClean="0">
                <a:solidFill>
                  <a:srgbClr val="00FF00"/>
                </a:solidFill>
              </a:rPr>
              <a:t>;</a:t>
            </a:r>
            <a:br>
              <a:rPr lang="uk-UA" dirty="0" smtClean="0">
                <a:solidFill>
                  <a:srgbClr val="00FF00"/>
                </a:solidFill>
              </a:rPr>
            </a:br>
            <a:r>
              <a:rPr lang="uk-UA" dirty="0" smtClean="0">
                <a:solidFill>
                  <a:srgbClr val="00FF00"/>
                </a:solidFill>
              </a:rPr>
              <a:t>5) -1,4а³у⁵с.</a:t>
            </a:r>
            <a:br>
              <a:rPr lang="uk-UA" dirty="0" smtClean="0">
                <a:solidFill>
                  <a:srgbClr val="00FF00"/>
                </a:solidFill>
              </a:rPr>
            </a:br>
            <a:endParaRPr lang="ru-RU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99FF"/>
            </a:gs>
            <a:gs pos="16000">
              <a:srgbClr val="00CCCC"/>
            </a:gs>
            <a:gs pos="47000">
              <a:srgbClr val="9999FF"/>
            </a:gs>
            <a:gs pos="60001">
              <a:srgbClr val="2E6792"/>
            </a:gs>
            <a:gs pos="71001">
              <a:srgbClr val="3333CC"/>
            </a:gs>
            <a:gs pos="81000">
              <a:srgbClr val="1170FF"/>
            </a:gs>
            <a:gs pos="100000">
              <a:srgbClr val="00669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857232"/>
            <a:ext cx="8305800" cy="4714908"/>
          </a:xfrm>
        </p:spPr>
        <p:txBody>
          <a:bodyPr>
            <a:noAutofit/>
          </a:bodyPr>
          <a:lstStyle/>
          <a:p>
            <a:r>
              <a:rPr lang="uk-UA" sz="3600" dirty="0" smtClean="0">
                <a:solidFill>
                  <a:srgbClr val="FFFF00"/>
                </a:solidFill>
              </a:rPr>
              <a:t>    Піднесіть до квадрата і до кубу одночлен:</a:t>
            </a:r>
            <a:br>
              <a:rPr lang="uk-UA" sz="3600" dirty="0" smtClean="0">
                <a:solidFill>
                  <a:srgbClr val="FFFF00"/>
                </a:solidFill>
              </a:rPr>
            </a:br>
            <a:r>
              <a:rPr lang="uk-UA" sz="3600" dirty="0" smtClean="0">
                <a:solidFill>
                  <a:srgbClr val="FFFF00"/>
                </a:solidFill>
              </a:rPr>
              <a:t>1) 2ах;</a:t>
            </a:r>
            <a:br>
              <a:rPr lang="uk-UA" sz="3600" dirty="0" smtClean="0">
                <a:solidFill>
                  <a:srgbClr val="FFFF00"/>
                </a:solidFill>
              </a:rPr>
            </a:br>
            <a:r>
              <a:rPr lang="uk-UA" sz="3600" dirty="0" smtClean="0">
                <a:solidFill>
                  <a:srgbClr val="FFFF00"/>
                </a:solidFill>
              </a:rPr>
              <a:t>2) -3а²;</a:t>
            </a:r>
            <a:br>
              <a:rPr lang="uk-UA" sz="3600" dirty="0" smtClean="0">
                <a:solidFill>
                  <a:srgbClr val="FFFF00"/>
                </a:solidFill>
              </a:rPr>
            </a:br>
            <a:r>
              <a:rPr lang="uk-UA" sz="3600" dirty="0" smtClean="0">
                <a:solidFill>
                  <a:srgbClr val="FFFF00"/>
                </a:solidFill>
              </a:rPr>
              <a:t>3) 5вс²;</a:t>
            </a:r>
            <a:br>
              <a:rPr lang="uk-UA" sz="3600" dirty="0" smtClean="0">
                <a:solidFill>
                  <a:srgbClr val="FFFF00"/>
                </a:solidFill>
              </a:rPr>
            </a:br>
            <a:r>
              <a:rPr lang="uk-UA" sz="3600" dirty="0" smtClean="0">
                <a:solidFill>
                  <a:srgbClr val="FFFF00"/>
                </a:solidFill>
              </a:rPr>
              <a:t>4) 0,2х³</a:t>
            </a:r>
            <a:r>
              <a:rPr lang="en-US" sz="3600" dirty="0" smtClean="0">
                <a:solidFill>
                  <a:srgbClr val="FFFF00"/>
                </a:solidFill>
              </a:rPr>
              <a:t>m</a:t>
            </a:r>
            <a:r>
              <a:rPr lang="uk-UA" sz="3600" dirty="0" smtClean="0">
                <a:solidFill>
                  <a:srgbClr val="FFFF00"/>
                </a:solidFill>
              </a:rPr>
              <a:t>;</a:t>
            </a:r>
            <a:br>
              <a:rPr lang="uk-UA" sz="3600" dirty="0" smtClean="0">
                <a:solidFill>
                  <a:srgbClr val="FFFF00"/>
                </a:solidFill>
              </a:rPr>
            </a:br>
            <a:r>
              <a:rPr lang="uk-UA" sz="3600" dirty="0" smtClean="0">
                <a:solidFill>
                  <a:srgbClr val="FFFF00"/>
                </a:solidFill>
              </a:rPr>
              <a:t>5) -0,5хс²;</a:t>
            </a:r>
            <a:br>
              <a:rPr lang="uk-UA" sz="3600" dirty="0" smtClean="0">
                <a:solidFill>
                  <a:srgbClr val="FFFF00"/>
                </a:solidFill>
              </a:rPr>
            </a:br>
            <a:r>
              <a:rPr lang="uk-UA" sz="3600" dirty="0" smtClean="0">
                <a:solidFill>
                  <a:srgbClr val="FFFF00"/>
                </a:solidFill>
              </a:rPr>
              <a:t>6) -4а²х³</a:t>
            </a:r>
            <a:br>
              <a:rPr lang="uk-UA" sz="3600" dirty="0" smtClean="0">
                <a:solidFill>
                  <a:srgbClr val="FFFF00"/>
                </a:solidFill>
              </a:rPr>
            </a:br>
            <a:r>
              <a:rPr lang="uk-UA" sz="3200" dirty="0" smtClean="0">
                <a:solidFill>
                  <a:srgbClr val="FFFF00"/>
                </a:solidFill>
              </a:rPr>
              <a:t>                  </a:t>
            </a:r>
            <a:endParaRPr lang="ru-RU" sz="3200" dirty="0">
              <a:solidFill>
                <a:srgbClr val="FFFF00"/>
              </a:solidFill>
            </a:endParaRPr>
          </a:p>
        </p:txBody>
      </p:sp>
      <p:pic>
        <p:nvPicPr>
          <p:cNvPr id="3" name="Рисунок 2" descr="11[1]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00760" y="3429000"/>
            <a:ext cx="3000396" cy="2500330"/>
          </a:xfrm>
          <a:prstGeom prst="rect">
            <a:avLst/>
          </a:prstGeom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603AB"/>
            </a:gs>
            <a:gs pos="21001">
              <a:srgbClr val="0819FB"/>
            </a:gs>
            <a:gs pos="35001">
              <a:srgbClr val="1A8D48"/>
            </a:gs>
            <a:gs pos="52000">
              <a:srgbClr val="FFFF00"/>
            </a:gs>
            <a:gs pos="73000">
              <a:srgbClr val="EE3F17"/>
            </a:gs>
            <a:gs pos="88000">
              <a:srgbClr val="E81766"/>
            </a:gs>
            <a:gs pos="100000">
              <a:srgbClr val="A603AB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501122" cy="7072338"/>
          </a:xfrm>
        </p:spPr>
        <p:txBody>
          <a:bodyPr>
            <a:normAutofit/>
          </a:bodyPr>
          <a:lstStyle/>
          <a:p>
            <a:r>
              <a:rPr lang="uk-UA" sz="4400" dirty="0" smtClean="0">
                <a:solidFill>
                  <a:srgbClr val="00FF00"/>
                </a:solidFill>
              </a:rPr>
              <a:t/>
            </a:r>
            <a:br>
              <a:rPr lang="uk-UA" sz="4400" dirty="0" smtClean="0">
                <a:solidFill>
                  <a:srgbClr val="00FF00"/>
                </a:solidFill>
              </a:rPr>
            </a:br>
            <a:r>
              <a:rPr lang="uk-UA" sz="4400" dirty="0" smtClean="0">
                <a:solidFill>
                  <a:srgbClr val="00FF00"/>
                </a:solidFill>
              </a:rPr>
              <a:t>ПЕРЕВІР СЕБЕ !</a:t>
            </a:r>
            <a:br>
              <a:rPr lang="uk-UA" sz="4400" dirty="0" smtClean="0">
                <a:solidFill>
                  <a:srgbClr val="00FF00"/>
                </a:solidFill>
              </a:rPr>
            </a:br>
            <a:r>
              <a:rPr lang="uk-UA" sz="4400" dirty="0" smtClean="0">
                <a:solidFill>
                  <a:srgbClr val="00FF00"/>
                </a:solidFill>
              </a:rPr>
              <a:t>Квадрат                 Куб</a:t>
            </a:r>
            <a:br>
              <a:rPr lang="uk-UA" sz="4400" dirty="0" smtClean="0">
                <a:solidFill>
                  <a:srgbClr val="00FF00"/>
                </a:solidFill>
              </a:rPr>
            </a:br>
            <a:r>
              <a:rPr lang="uk-UA" sz="4400" dirty="0" smtClean="0">
                <a:solidFill>
                  <a:srgbClr val="00FF00"/>
                </a:solidFill>
              </a:rPr>
              <a:t>1) 4а²х²                   8а³х³</a:t>
            </a:r>
            <a:br>
              <a:rPr lang="uk-UA" sz="4400" dirty="0" smtClean="0">
                <a:solidFill>
                  <a:srgbClr val="00FF00"/>
                </a:solidFill>
              </a:rPr>
            </a:br>
            <a:r>
              <a:rPr lang="uk-UA" sz="4400" dirty="0" smtClean="0">
                <a:solidFill>
                  <a:srgbClr val="00FF00"/>
                </a:solidFill>
              </a:rPr>
              <a:t>2) 9а⁴                      27а⁶</a:t>
            </a:r>
            <a:br>
              <a:rPr lang="uk-UA" sz="4400" dirty="0" smtClean="0">
                <a:solidFill>
                  <a:srgbClr val="00FF00"/>
                </a:solidFill>
              </a:rPr>
            </a:br>
            <a:r>
              <a:rPr lang="uk-UA" sz="4400" dirty="0" smtClean="0">
                <a:solidFill>
                  <a:srgbClr val="00FF00"/>
                </a:solidFill>
              </a:rPr>
              <a:t>3) 25в²с⁴                 125в³с⁶</a:t>
            </a:r>
            <a:br>
              <a:rPr lang="uk-UA" sz="4400" dirty="0" smtClean="0">
                <a:solidFill>
                  <a:srgbClr val="00FF00"/>
                </a:solidFill>
              </a:rPr>
            </a:br>
            <a:r>
              <a:rPr lang="uk-UA" sz="4400" dirty="0" smtClean="0">
                <a:solidFill>
                  <a:srgbClr val="00FF00"/>
                </a:solidFill>
              </a:rPr>
              <a:t>4) 0,04х⁶</a:t>
            </a:r>
            <a:r>
              <a:rPr lang="en-US" sz="4400" dirty="0" smtClean="0">
                <a:solidFill>
                  <a:srgbClr val="00FF00"/>
                </a:solidFill>
              </a:rPr>
              <a:t>m²             0</a:t>
            </a:r>
            <a:r>
              <a:rPr lang="uk-UA" sz="4400" dirty="0" smtClean="0">
                <a:solidFill>
                  <a:srgbClr val="00FF00"/>
                </a:solidFill>
              </a:rPr>
              <a:t>,</a:t>
            </a:r>
            <a:r>
              <a:rPr lang="en-US" sz="4400" dirty="0" smtClean="0">
                <a:solidFill>
                  <a:srgbClr val="00FF00"/>
                </a:solidFill>
              </a:rPr>
              <a:t>008x⁹m³</a:t>
            </a:r>
            <a:r>
              <a:rPr lang="uk-UA" sz="4400" dirty="0" smtClean="0">
                <a:solidFill>
                  <a:srgbClr val="00FF00"/>
                </a:solidFill>
              </a:rPr>
              <a:t/>
            </a:r>
            <a:br>
              <a:rPr lang="uk-UA" sz="4400" dirty="0" smtClean="0">
                <a:solidFill>
                  <a:srgbClr val="00FF00"/>
                </a:solidFill>
              </a:rPr>
            </a:br>
            <a:r>
              <a:rPr lang="uk-UA" sz="4400" dirty="0" smtClean="0">
                <a:solidFill>
                  <a:srgbClr val="00FF00"/>
                </a:solidFill>
              </a:rPr>
              <a:t>5) 0,25х²с⁴               -0,125х³с⁶</a:t>
            </a:r>
            <a:br>
              <a:rPr lang="uk-UA" sz="4400" dirty="0" smtClean="0">
                <a:solidFill>
                  <a:srgbClr val="00FF00"/>
                </a:solidFill>
              </a:rPr>
            </a:br>
            <a:r>
              <a:rPr lang="uk-UA" sz="4400" dirty="0" smtClean="0">
                <a:solidFill>
                  <a:srgbClr val="00FF00"/>
                </a:solidFill>
              </a:rPr>
              <a:t>6) 16а⁴х⁶                  -64а⁶х⁹</a:t>
            </a:r>
            <a:r>
              <a:rPr lang="uk-UA" sz="5300" dirty="0" smtClean="0">
                <a:solidFill>
                  <a:srgbClr val="00FF00"/>
                </a:solidFill>
              </a:rPr>
              <a:t/>
            </a:r>
            <a:br>
              <a:rPr lang="uk-UA" sz="5300" dirty="0" smtClean="0">
                <a:solidFill>
                  <a:srgbClr val="00FF00"/>
                </a:solidFill>
              </a:rPr>
            </a:br>
            <a:endParaRPr lang="ru-RU" sz="5300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25600"/>
            </a:gs>
            <a:gs pos="13000">
              <a:srgbClr val="FFA800"/>
            </a:gs>
            <a:gs pos="28000">
              <a:srgbClr val="825600"/>
            </a:gs>
            <a:gs pos="42999">
              <a:srgbClr val="FFA800"/>
            </a:gs>
            <a:gs pos="58000">
              <a:srgbClr val="825600"/>
            </a:gs>
            <a:gs pos="72000">
              <a:srgbClr val="FFA800"/>
            </a:gs>
            <a:gs pos="87000">
              <a:srgbClr val="825600"/>
            </a:gs>
            <a:gs pos="100000">
              <a:srgbClr val="FFA8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714356"/>
            <a:ext cx="8305800" cy="5143536"/>
          </a:xfrm>
        </p:spPr>
        <p:txBody>
          <a:bodyPr>
            <a:normAutofit/>
          </a:bodyPr>
          <a:lstStyle/>
          <a:p>
            <a:r>
              <a:rPr lang="uk-UA" dirty="0" smtClean="0"/>
              <a:t> </a:t>
            </a:r>
            <a:r>
              <a:rPr lang="uk-UA" i="1" dirty="0" smtClean="0">
                <a:solidFill>
                  <a:srgbClr val="7030A0"/>
                </a:solidFill>
              </a:rPr>
              <a:t>   Спростіть вираз:</a:t>
            </a:r>
            <a:br>
              <a:rPr lang="uk-UA" i="1" dirty="0" smtClean="0">
                <a:solidFill>
                  <a:srgbClr val="7030A0"/>
                </a:solidFill>
              </a:rPr>
            </a:br>
            <a:r>
              <a:rPr lang="uk-UA" i="1" dirty="0" smtClean="0">
                <a:solidFill>
                  <a:srgbClr val="7030A0"/>
                </a:solidFill>
              </a:rPr>
              <a:t>1) х⁵·(2ах²)³</a:t>
            </a:r>
            <a:br>
              <a:rPr lang="uk-UA" i="1" dirty="0" smtClean="0">
                <a:solidFill>
                  <a:srgbClr val="7030A0"/>
                </a:solidFill>
              </a:rPr>
            </a:br>
            <a:r>
              <a:rPr lang="uk-UA" i="1" dirty="0" smtClean="0">
                <a:solidFill>
                  <a:srgbClr val="7030A0"/>
                </a:solidFill>
              </a:rPr>
              <a:t>2) (2ах²)²·(ах)³</a:t>
            </a:r>
            <a:br>
              <a:rPr lang="uk-UA" i="1" dirty="0" smtClean="0">
                <a:solidFill>
                  <a:srgbClr val="7030A0"/>
                </a:solidFill>
              </a:rPr>
            </a:br>
            <a:r>
              <a:rPr lang="uk-UA" i="1" dirty="0" smtClean="0">
                <a:solidFill>
                  <a:srgbClr val="7030A0"/>
                </a:solidFill>
              </a:rPr>
              <a:t>3) (-2х²у³)²·(-5ху²)³</a:t>
            </a:r>
            <a:br>
              <a:rPr lang="uk-UA" i="1" dirty="0" smtClean="0">
                <a:solidFill>
                  <a:srgbClr val="7030A0"/>
                </a:solidFill>
              </a:rPr>
            </a:br>
            <a:r>
              <a:rPr lang="uk-UA" i="1" dirty="0" smtClean="0">
                <a:solidFill>
                  <a:srgbClr val="7030A0"/>
                </a:solidFill>
              </a:rPr>
              <a:t>4) 0,5</a:t>
            </a:r>
            <a:r>
              <a:rPr lang="en-US" i="1" dirty="0" err="1" smtClean="0">
                <a:solidFill>
                  <a:srgbClr val="7030A0"/>
                </a:solidFill>
              </a:rPr>
              <a:t>mn</a:t>
            </a:r>
            <a:r>
              <a:rPr lang="en-US" i="1" dirty="0" smtClean="0">
                <a:solidFill>
                  <a:srgbClr val="7030A0"/>
                </a:solidFill>
              </a:rPr>
              <a:t>⁴·(-2m)⁵</a:t>
            </a:r>
            <a:br>
              <a:rPr lang="en-US" i="1" dirty="0" smtClean="0">
                <a:solidFill>
                  <a:srgbClr val="7030A0"/>
                </a:solidFill>
              </a:rPr>
            </a:br>
            <a:r>
              <a:rPr lang="en-US" i="1" dirty="0" smtClean="0">
                <a:solidFill>
                  <a:srgbClr val="7030A0"/>
                </a:solidFill>
              </a:rPr>
              <a:t>5) 3</a:t>
            </a:r>
            <a:r>
              <a:rPr lang="uk-UA" i="1" dirty="0" smtClean="0">
                <a:solidFill>
                  <a:srgbClr val="7030A0"/>
                </a:solidFill>
              </a:rPr>
              <a:t>х²·(-5х³у⁴)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282" y="357166"/>
            <a:ext cx="8548718" cy="5500726"/>
          </a:xfrm>
          <a:gradFill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r>
              <a:rPr lang="uk-UA" dirty="0" smtClean="0"/>
              <a:t>    </a:t>
            </a:r>
            <a:r>
              <a:rPr lang="uk-UA" dirty="0" smtClean="0">
                <a:solidFill>
                  <a:srgbClr val="7030A0"/>
                </a:solidFill>
              </a:rPr>
              <a:t>Замініть зірочку одночленом так, щоб утворилась правильна рівність.</a:t>
            </a:r>
            <a:br>
              <a:rPr lang="uk-UA" dirty="0" smtClean="0">
                <a:solidFill>
                  <a:srgbClr val="7030A0"/>
                </a:solidFill>
              </a:rPr>
            </a:br>
            <a:r>
              <a:rPr lang="uk-UA" dirty="0" smtClean="0">
                <a:solidFill>
                  <a:srgbClr val="7030A0"/>
                </a:solidFill>
              </a:rPr>
              <a:t>1) 0,6а²в· * =6а²в³;</a:t>
            </a:r>
            <a:br>
              <a:rPr lang="uk-UA" dirty="0" smtClean="0">
                <a:solidFill>
                  <a:srgbClr val="7030A0"/>
                </a:solidFill>
              </a:rPr>
            </a:br>
            <a:r>
              <a:rPr lang="uk-UA" dirty="0" smtClean="0">
                <a:solidFill>
                  <a:srgbClr val="7030A0"/>
                </a:solidFill>
              </a:rPr>
              <a:t>2) 5</a:t>
            </a:r>
            <a:r>
              <a:rPr lang="en-US" dirty="0" smtClean="0">
                <a:solidFill>
                  <a:srgbClr val="7030A0"/>
                </a:solidFill>
              </a:rPr>
              <a:t>m²n³· * =-</a:t>
            </a:r>
            <a:r>
              <a:rPr lang="en-US" dirty="0" err="1" smtClean="0">
                <a:solidFill>
                  <a:srgbClr val="7030A0"/>
                </a:solidFill>
              </a:rPr>
              <a:t>m⁵n</a:t>
            </a:r>
            <a:r>
              <a:rPr lang="en-US" dirty="0" smtClean="0">
                <a:solidFill>
                  <a:srgbClr val="7030A0"/>
                </a:solidFill>
              </a:rPr>
              <a:t>⁶</a:t>
            </a:r>
            <a:r>
              <a:rPr lang="uk-UA" dirty="0" smtClean="0">
                <a:solidFill>
                  <a:srgbClr val="7030A0"/>
                </a:solidFill>
              </a:rPr>
              <a:t/>
            </a:r>
            <a:br>
              <a:rPr lang="uk-UA" dirty="0" smtClean="0">
                <a:solidFill>
                  <a:srgbClr val="7030A0"/>
                </a:solidFill>
              </a:rPr>
            </a:br>
            <a:endParaRPr lang="ru-RU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                                                                                                                                                                                                 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-214345" y="1214422"/>
            <a:ext cx="9358345" cy="218521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uk-UA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      </a:t>
            </a:r>
            <a:r>
              <a:rPr lang="uk-UA" sz="8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Було цікаво</a:t>
            </a:r>
            <a:r>
              <a:rPr lang="en-US" sz="8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?</a:t>
            </a:r>
            <a:endParaRPr lang="uk-UA" sz="88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algn="ctr"/>
            <a:r>
              <a:rPr lang="uk-UA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endParaRPr lang="ru-RU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5" name="Рисунок 4" descr="4954696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57554" y="3357562"/>
            <a:ext cx="2286016" cy="2857514"/>
          </a:xfrm>
          <a:prstGeom prst="rect">
            <a:avLst/>
          </a:prstGeom>
        </p:spPr>
      </p:pic>
    </p:spTree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33480" y="642919"/>
            <a:ext cx="5638850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uk-UA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 flip="none" rotWithShape="1">
                  <a:gsLst>
                    <a:gs pos="0">
                      <a:srgbClr val="00FF00">
                        <a:shade val="30000"/>
                        <a:satMod val="115000"/>
                      </a:srgbClr>
                    </a:gs>
                    <a:gs pos="50000">
                      <a:srgbClr val="00FF00">
                        <a:shade val="67500"/>
                        <a:satMod val="115000"/>
                      </a:srgbClr>
                    </a:gs>
                    <a:gs pos="100000">
                      <a:srgbClr val="00FF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ДЯКУЮ </a:t>
            </a:r>
          </a:p>
          <a:p>
            <a:pPr algn="ctr"/>
            <a:r>
              <a:rPr lang="uk-UA" sz="96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 flip="none" rotWithShape="1">
                  <a:gsLst>
                    <a:gs pos="0">
                      <a:srgbClr val="00FF00">
                        <a:shade val="30000"/>
                        <a:satMod val="115000"/>
                      </a:srgbClr>
                    </a:gs>
                    <a:gs pos="50000">
                      <a:srgbClr val="00FF00">
                        <a:shade val="67500"/>
                        <a:satMod val="115000"/>
                      </a:srgbClr>
                    </a:gs>
                    <a:gs pos="100000">
                      <a:srgbClr val="00FF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ЗА</a:t>
            </a:r>
          </a:p>
          <a:p>
            <a:pPr algn="ctr"/>
            <a:r>
              <a:rPr lang="uk-UA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 flip="none" rotWithShape="1">
                  <a:gsLst>
                    <a:gs pos="0">
                      <a:srgbClr val="00FF00">
                        <a:shade val="30000"/>
                        <a:satMod val="115000"/>
                      </a:srgbClr>
                    </a:gs>
                    <a:gs pos="50000">
                      <a:srgbClr val="00FF00">
                        <a:shade val="67500"/>
                        <a:satMod val="115000"/>
                      </a:srgbClr>
                    </a:gs>
                    <a:gs pos="100000">
                      <a:srgbClr val="00FF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reflection blurRad="12700" stA="28000" endPos="45000" dist="1000" dir="5400000" sy="-100000" algn="bl" rotWithShape="0"/>
                </a:effectLst>
              </a:rPr>
              <a:t>УВАГУ</a:t>
            </a:r>
            <a:endParaRPr lang="ru-RU" sz="9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 flip="none" rotWithShape="1">
                <a:gsLst>
                  <a:gs pos="0">
                    <a:srgbClr val="00FF00">
                      <a:shade val="30000"/>
                      <a:satMod val="115000"/>
                    </a:srgbClr>
                  </a:gs>
                  <a:gs pos="50000">
                    <a:srgbClr val="00FF00">
                      <a:shade val="67500"/>
                      <a:satMod val="115000"/>
                    </a:srgbClr>
                  </a:gs>
                  <a:gs pos="100000">
                    <a:srgbClr val="00FF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2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493</TotalTime>
  <Words>260</Words>
  <Application>Microsoft Office PowerPoint</Application>
  <PresentationFormat>Экран (4:3)</PresentationFormat>
  <Paragraphs>80</Paragraphs>
  <Slides>20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Поток</vt:lpstr>
      <vt:lpstr>Слайд 1</vt:lpstr>
      <vt:lpstr>Слайд 2</vt:lpstr>
      <vt:lpstr>Слайд 3</vt:lpstr>
      <vt:lpstr>Слайд 4</vt:lpstr>
      <vt:lpstr>Слайд 5</vt:lpstr>
      <vt:lpstr>Чи в стандартному вигляді одночлен ? 1) 2х²·3у; 2) 7а⁴в⁶с³; 3) –хух⁵; 4) т12; 5) 45ав; 6) тк⁸т⁹; 7) 4а³в².                    </vt:lpstr>
      <vt:lpstr>Слайд 7</vt:lpstr>
      <vt:lpstr>                                                </vt:lpstr>
      <vt:lpstr>Слайд 9</vt:lpstr>
      <vt:lpstr>Щоб перемножити одночлени, числові   множники перемножають, а до буквених застосовують правило множення степенів з однаковими основами.  Наприклад:  5ав²·(-0,3а²в³)=5·(-0,3)аа²в²в³= =-1,5а³в⁵        </vt:lpstr>
      <vt:lpstr>   Суму показників змінних в одночлені називають степенем  одночлена. Наприклад: -а²в³с⁴    степінь одночлена  9,тому                       що       2+3+4=9</vt:lpstr>
      <vt:lpstr>   Щоб піднести до степеня одночлен, слід піднести до цього степеня кожний множник одночлена і знайдені степені  перемножити. Наприклад: (3mу²)⁴=3⁴m⁴(у²)⁴=81m⁴у⁸  </vt:lpstr>
      <vt:lpstr>СПРОБУЙ СВОЇ СИЛИ  Перемножте одночлени.  1) 2ав·3а²с 2) -аm²·3m³p 3) 0,2ху·(-5ху) 4) авсd·(-ав²с³) 5) -2а²у⁴·0,7аус  </vt:lpstr>
      <vt:lpstr>   ПЕРЕВІР СЕБЕ ! 1) 6а³вс; 2) -3аm⁵p; 3) –х²у²; 4) –а²в³с⁴d; 5) -1,4а³у⁵с. </vt:lpstr>
      <vt:lpstr>    Піднесіть до квадрата і до кубу одночлен: 1) 2ах; 2) -3а²; 3) 5вс²; 4) 0,2х³m; 5) -0,5хс²; 6) -4а²х³                   </vt:lpstr>
      <vt:lpstr> ПЕРЕВІР СЕБЕ ! Квадрат                 Куб 1) 4а²х²                   8а³х³ 2) 9а⁴                      27а⁶ 3) 25в²с⁴                 125в³с⁶ 4) 0,04х⁶m²             0,008x⁹m³ 5) 0,25х²с⁴               -0,125х³с⁶ 6) 16а⁴х⁶                  -64а⁶х⁹ </vt:lpstr>
      <vt:lpstr>    Спростіть вираз: 1) х⁵·(2ах²)³ 2) (2ах²)²·(ах)³ 3) (-2х²у³)²·(-5ху²)³ 4) 0,5mn⁴·(-2m)⁵ 5) 3х²·(-5х³у⁴)</vt:lpstr>
      <vt:lpstr>    Замініть зірочку одночленом так, щоб утворилась правильна рівність. 1) 0,6а²в· * =6а²в³; 2) 5m²n³· * =-m⁵n⁶ </vt:lpstr>
      <vt:lpstr>                                                                                                                                                                                                  </vt:lpstr>
      <vt:lpstr>Слайд 20</vt:lpstr>
    </vt:vector>
  </TitlesOfParts>
  <Company>Reanimator Extreme Edition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XTreme</dc:creator>
  <cp:lastModifiedBy>Пользователь</cp:lastModifiedBy>
  <cp:revision>54</cp:revision>
  <dcterms:created xsi:type="dcterms:W3CDTF">2005-01-01T00:22:25Z</dcterms:created>
  <dcterms:modified xsi:type="dcterms:W3CDTF">2012-11-30T16:27:35Z</dcterms:modified>
</cp:coreProperties>
</file>