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0" r:id="rId3"/>
    <p:sldId id="279" r:id="rId4"/>
    <p:sldId id="281" r:id="rId5"/>
    <p:sldId id="282" r:id="rId6"/>
    <p:sldId id="277" r:id="rId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DFFFF"/>
    <a:srgbClr val="008000"/>
    <a:srgbClr val="0000FF"/>
    <a:srgbClr val="E62A72"/>
    <a:srgbClr val="EC7E2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3322" autoAdjust="0"/>
  </p:normalViewPr>
  <p:slideViewPr>
    <p:cSldViewPr>
      <p:cViewPr>
        <p:scale>
          <a:sx n="78" d="100"/>
          <a:sy n="78" d="100"/>
        </p:scale>
        <p:origin x="-2574" y="-7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22499-EC7A-4182-8FDE-34E2A804950D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B44C2-A394-4668-BC9D-1BB5D2B405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369AE2-4F87-4E22-9EB2-69DBAD2DD23E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50999-F893-4612-824C-6135C9BF3A9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3B605-8401-4540-8FC0-669E8570B679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BF5EE-30EC-42DE-AD22-27FFC9C337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178F4-D332-420E-8B4F-AC7389BEF977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DDB67-C1DD-48D6-9455-09D6F363F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333FA-FE09-464C-96DC-DECB72C3D928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537202-6003-485C-BE27-88D11A265D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8E0309-E49D-449D-8190-E172BFBC4708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797E7-AD81-4523-B188-5137B54E26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02453-F872-460F-969B-853A74FEFF95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A466D-9631-46C8-A5DE-5348BCD055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810B6-7BAB-4434-BE2E-5846C47CCCBE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46248-59A6-4A1F-AA2B-FA706A656B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3B44E-CCE9-46AA-B133-8AB64D989605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1D5CD-083F-4EDD-A69B-C9B80380829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CBF7C-453C-496F-AB16-0090C16D4C38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52C48-80DD-4783-846D-A22CD85EE7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F861D-277F-4932-9AD6-0D7C562A46A2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6DBDE-5751-4801-87A2-6418F0D2766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163D65B-7F77-43B5-9D13-4A2850D72E4D}" type="datetimeFigureOut">
              <a:rPr lang="ru-RU"/>
              <a:pPr>
                <a:defRPr/>
              </a:pPr>
              <a:t>07.02.2013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68FB781-6578-487A-8D2B-622B20CE3A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2204864"/>
            <a:ext cx="6500813" cy="1470025"/>
          </a:xfrm>
        </p:spPr>
        <p:txBody>
          <a:bodyPr/>
          <a:lstStyle/>
          <a:p>
            <a:pPr>
              <a:defRPr/>
            </a:pPr>
            <a: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Обласна</a:t>
            </a:r>
            <a:b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</a:br>
            <a: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творча</a:t>
            </a:r>
            <a:b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</a:br>
            <a: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філологічна </a:t>
            </a:r>
            <a:b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</a:br>
            <a:r>
              <a:rPr lang="uk-UA" sz="4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майстерня№7</a:t>
            </a:r>
            <a:endParaRPr lang="ru-RU" sz="4800" b="1" dirty="0">
              <a:solidFill>
                <a:schemeClr val="accent2">
                  <a:lumMod val="75000"/>
                </a:schemeClr>
              </a:solidFill>
              <a:latin typeface="Garamond" pitchFamily="18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345940" y="836712"/>
            <a:ext cx="6341737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48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Формування</a:t>
            </a:r>
            <a:r>
              <a:rPr lang="ru-RU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</a:t>
            </a:r>
          </a:p>
          <a:p>
            <a:pPr algn="ctr"/>
            <a:r>
              <a:rPr lang="uk-UA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креативної </a:t>
            </a:r>
          </a:p>
          <a:p>
            <a:pPr algn="ctr"/>
            <a:r>
              <a:rPr lang="uk-UA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особистості</a:t>
            </a:r>
            <a:r>
              <a:rPr lang="ru-RU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 </a:t>
            </a:r>
            <a:r>
              <a:rPr lang="ru-RU" sz="4800" b="1" dirty="0" err="1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учня</a:t>
            </a:r>
            <a:endParaRPr lang="ru-RU" sz="4800" b="1" dirty="0" smtClean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  <a:p>
            <a:pPr algn="ctr"/>
            <a:r>
              <a:rPr lang="ru-RU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в систем</a:t>
            </a:r>
            <a:r>
              <a:rPr lang="uk-UA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і </a:t>
            </a:r>
          </a:p>
          <a:p>
            <a:pPr algn="ctr"/>
            <a:r>
              <a:rPr lang="uk-UA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позакласної роботи</a:t>
            </a:r>
          </a:p>
          <a:p>
            <a:pPr algn="ctr"/>
            <a:r>
              <a:rPr lang="uk-UA" sz="48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вчителів-філологів</a:t>
            </a:r>
          </a:p>
        </p:txBody>
      </p:sp>
    </p:spTree>
  </p:cSld>
  <p:clrMapOvr>
    <a:masterClrMapping/>
  </p:clrMapOvr>
  <p:transition advTm="3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4" descr="свиток 5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214290"/>
            <a:ext cx="84296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3625857"/>
          </a:xfrm>
          <a:effectLst/>
        </p:spPr>
        <p:txBody>
          <a:bodyPr/>
          <a:lstStyle/>
          <a:p>
            <a:pPr algn="ctr">
              <a:buNone/>
            </a:pPr>
            <a:r>
              <a:rPr lang="uk-UA" sz="2800" b="1" dirty="0" smtClean="0">
                <a:solidFill>
                  <a:srgbClr val="C00000"/>
                </a:solidFill>
              </a:rPr>
              <a:t>Керівник проекту:</a:t>
            </a:r>
            <a:r>
              <a:rPr lang="uk-UA" sz="2800" b="1" dirty="0" smtClean="0"/>
              <a:t>  </a:t>
            </a:r>
            <a:r>
              <a:rPr lang="uk-UA" sz="2800" b="1" dirty="0" err="1" smtClean="0">
                <a:solidFill>
                  <a:schemeClr val="accent5">
                    <a:lumMod val="50000"/>
                  </a:schemeClr>
                </a:solidFill>
              </a:rPr>
              <a:t>Чубарова</a:t>
            </a:r>
            <a:r>
              <a:rPr lang="uk-UA" sz="2800" b="1" dirty="0" smtClean="0">
                <a:solidFill>
                  <a:schemeClr val="accent5">
                    <a:lumMod val="50000"/>
                  </a:schemeClr>
                </a:solidFill>
              </a:rPr>
              <a:t> М.Є.</a:t>
            </a:r>
            <a:r>
              <a:rPr lang="uk-UA" sz="2400" b="1" dirty="0" smtClean="0"/>
              <a:t>,завідуюча навчально-методичної лабораторії російської мови і світової літератури ДОІППО.</a:t>
            </a:r>
            <a:endParaRPr lang="ru-RU" sz="2400" b="1" dirty="0" smtClean="0"/>
          </a:p>
          <a:p>
            <a:pPr algn="ctr">
              <a:buNone/>
            </a:pPr>
            <a:r>
              <a:rPr lang="uk-UA" sz="2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Керівники майстерні:</a:t>
            </a:r>
          </a:p>
          <a:p>
            <a:pPr algn="ctr">
              <a:buNone/>
            </a:pPr>
            <a:r>
              <a:rPr lang="uk-UA" sz="2800" b="1" dirty="0" err="1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Твердохлєбова</a:t>
            </a:r>
            <a:r>
              <a:rPr lang="uk-UA" sz="28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Т.В.</a:t>
            </a:r>
          </a:p>
          <a:p>
            <a:pPr algn="ctr">
              <a:buNone/>
            </a:pPr>
            <a:r>
              <a:rPr lang="uk-UA" sz="2800" b="1" dirty="0" err="1" smtClean="0"/>
              <a:t>Широківська</a:t>
            </a:r>
            <a:r>
              <a:rPr lang="uk-UA" sz="2800" b="1" dirty="0" smtClean="0"/>
              <a:t> СЗШ №2</a:t>
            </a:r>
          </a:p>
          <a:p>
            <a:pPr algn="ctr">
              <a:buNone/>
            </a:pPr>
            <a:r>
              <a:rPr lang="uk-UA" sz="2800" b="1" dirty="0" smtClean="0"/>
              <a:t>тел. </a:t>
            </a:r>
            <a:r>
              <a:rPr lang="uk-UA" sz="2800" b="1" dirty="0" smtClean="0"/>
              <a:t>0678758003</a:t>
            </a:r>
          </a:p>
          <a:p>
            <a:pPr algn="ctr">
              <a:buNone/>
            </a:pPr>
            <a:r>
              <a:rPr lang="uk-UA" sz="28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Земляна </a:t>
            </a:r>
            <a:r>
              <a:rPr lang="uk-UA" sz="2800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Л.В</a:t>
            </a:r>
            <a:r>
              <a:rPr lang="uk-UA" sz="2800" b="1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algn="ctr">
              <a:buNone/>
            </a:pPr>
            <a:r>
              <a:rPr lang="uk-UA" sz="2400" b="1" dirty="0" err="1" smtClean="0"/>
              <a:t>Петропавлівська</a:t>
            </a:r>
            <a:r>
              <a:rPr lang="uk-UA" sz="2400" b="1" dirty="0" smtClean="0"/>
              <a:t> СЗШ №2</a:t>
            </a:r>
          </a:p>
          <a:p>
            <a:pPr algn="ctr">
              <a:buNone/>
            </a:pPr>
            <a:r>
              <a:rPr lang="uk-UA" sz="2400" b="1" dirty="0" smtClean="0"/>
              <a:t>тел. 0955342556</a:t>
            </a:r>
          </a:p>
          <a:p>
            <a:pPr algn="ctr">
              <a:buNone/>
            </a:pPr>
            <a:r>
              <a:rPr lang="uk-UA" sz="1800" b="1" dirty="0" smtClean="0">
                <a:solidFill>
                  <a:schemeClr val="accent2">
                    <a:lumMod val="75000"/>
                  </a:schemeClr>
                </a:solidFill>
              </a:rPr>
              <a:t>Наказ </a:t>
            </a:r>
            <a:r>
              <a:rPr lang="uk-UA" sz="1800" b="1" dirty="0" smtClean="0">
                <a:solidFill>
                  <a:schemeClr val="accent2">
                    <a:lumMod val="75000"/>
                  </a:schemeClr>
                </a:solidFill>
              </a:rPr>
              <a:t>Головного управління освіти і науки від 14.05.2012р. №112</a:t>
            </a:r>
            <a:endParaRPr lang="ru-RU" sz="1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" name="Содержимое 3" descr="учебники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5786" y="3643314"/>
            <a:ext cx="1143000" cy="1042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Заголовок 2"/>
          <p:cNvSpPr txBox="1">
            <a:spLocks/>
          </p:cNvSpPr>
          <p:nvPr/>
        </p:nvSpPr>
        <p:spPr bwMode="auto">
          <a:xfrm>
            <a:off x="428596" y="28572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5400" b="1" i="0" u="sng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Garamond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14480" y="357166"/>
            <a:ext cx="61436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    Обласна   творча    філологічна </a:t>
            </a:r>
            <a:br>
              <a:rPr lang="uk-UA" sz="2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</a:br>
            <a:r>
              <a:rPr lang="uk-UA" sz="2800" b="1" dirty="0" smtClean="0">
                <a:solidFill>
                  <a:schemeClr val="accent2">
                    <a:lumMod val="75000"/>
                  </a:schemeClr>
                </a:solidFill>
                <a:latin typeface="Garamond" pitchFamily="18" charset="0"/>
                <a:cs typeface="Courier New" pitchFamily="49" charset="0"/>
              </a:rPr>
              <a:t>                  майстерня №7</a:t>
            </a:r>
            <a:endParaRPr lang="ru-RU" sz="2800" b="1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Содержимое 4" descr="свиток 5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88" y="142875"/>
            <a:ext cx="84296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uk-UA" sz="5400" b="1" dirty="0" smtClean="0">
                <a:solidFill>
                  <a:schemeClr val="tx2">
                    <a:lumMod val="50000"/>
                  </a:schemeClr>
                </a:solidFill>
                <a:latin typeface="Garamond" pitchFamily="18" charset="0"/>
              </a:rPr>
              <a:t>Напрямки роботи:</a:t>
            </a:r>
            <a:endParaRPr lang="ru-RU" sz="5400" b="1" dirty="0">
              <a:solidFill>
                <a:schemeClr val="tx2">
                  <a:lumMod val="50000"/>
                </a:schemeClr>
              </a:solidFill>
              <a:latin typeface="Garamond" pitchFamily="18" charset="0"/>
            </a:endParaRPr>
          </a:p>
        </p:txBody>
      </p:sp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lvl="0"/>
            <a:r>
              <a:rPr lang="uk-UA" dirty="0" smtClean="0">
                <a:solidFill>
                  <a:schemeClr val="accent1">
                    <a:lumMod val="50000"/>
                  </a:schemeClr>
                </a:solidFill>
              </a:rPr>
              <a:t>Формування фільмотеки для проведення уроків з вивчення художніх творів, біографії авторів  та позакласних заходів.</a:t>
            </a:r>
            <a:endParaRPr lang="ru-RU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 Розробка методичного комплексу до відзначення ювілейних дат письменників, художніх творів, літературних героїв.</a:t>
            </a:r>
            <a:endParaRPr lang="ru-RU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0"/>
            <a:r>
              <a:rPr lang="uk-UA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uk-UA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Забезпечення методичної підтримки для проведення позакласних заходів з предмету.</a:t>
            </a:r>
            <a:endParaRPr lang="ru-RU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endParaRPr lang="ru-RU" sz="3600" dirty="0"/>
          </a:p>
        </p:txBody>
      </p:sp>
      <p:pic>
        <p:nvPicPr>
          <p:cNvPr id="6" name="Содержимое 3" descr="учебники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43813" y="5572125"/>
            <a:ext cx="1143000" cy="1042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323528" y="188640"/>
            <a:ext cx="8820472" cy="5040560"/>
          </a:xfrm>
          <a:effectLst/>
        </p:spPr>
        <p:txBody>
          <a:bodyPr/>
          <a:lstStyle/>
          <a:p>
            <a:pPr lvl="0"/>
            <a:r>
              <a:rPr lang="uk-UA" dirty="0" smtClean="0">
                <a:solidFill>
                  <a:schemeClr val="accent1">
                    <a:lumMod val="50000"/>
                  </a:schemeClr>
                </a:solidFill>
              </a:rPr>
              <a:t>Розвиток творчої  особистості учня в позакласній роботі засобами  інноваційних технологій.</a:t>
            </a:r>
            <a:endParaRPr lang="ru-RU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lvl="0"/>
            <a:r>
              <a:rPr lang="uk-UA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Програмне забезпечення та методична підтримка гурткової,  студійної, факультативної роботи.</a:t>
            </a:r>
            <a:endParaRPr lang="ru-RU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uk-UA" dirty="0" smtClean="0"/>
              <a:t> </a:t>
            </a:r>
            <a:r>
              <a:rPr lang="uk-UA" dirty="0" smtClean="0">
                <a:solidFill>
                  <a:schemeClr val="tx2">
                    <a:lumMod val="75000"/>
                  </a:schemeClr>
                </a:solidFill>
              </a:rPr>
              <a:t>Проведення методичних тижнів з предмету.</a:t>
            </a:r>
            <a:endParaRPr lang="ru-RU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0"/>
            <a:r>
              <a:rPr lang="uk-UA" dirty="0" smtClean="0">
                <a:solidFill>
                  <a:schemeClr val="bg2">
                    <a:lumMod val="25000"/>
                  </a:schemeClr>
                </a:solidFill>
              </a:rPr>
              <a:t> Використання різних видів мистецтв у системі позакласної роботи.</a:t>
            </a:r>
            <a:endParaRPr lang="ru-RU" dirty="0" smtClean="0">
              <a:solidFill>
                <a:schemeClr val="bg2">
                  <a:lumMod val="25000"/>
                </a:schemeClr>
              </a:solidFill>
            </a:endParaRPr>
          </a:p>
          <a:p>
            <a:pPr lvl="0"/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Висвітлення матеріалів роботи філологічної майстерні в українських періодичних </a:t>
            </a:r>
          </a:p>
          <a:p>
            <a:pPr lvl="0">
              <a:buNone/>
            </a:pPr>
            <a:r>
              <a:rPr lang="uk-UA" dirty="0" smtClean="0">
                <a:solidFill>
                  <a:schemeClr val="accent1">
                    <a:lumMod val="75000"/>
                  </a:schemeClr>
                </a:solidFill>
              </a:rPr>
              <a:t>    виданнях</a:t>
            </a:r>
            <a:r>
              <a:rPr lang="uk-UA" dirty="0" smtClean="0"/>
              <a:t>.</a:t>
            </a:r>
            <a:endParaRPr lang="ru-RU" dirty="0" smtClean="0"/>
          </a:p>
          <a:p>
            <a:pPr lvl="0"/>
            <a:r>
              <a:rPr lang="uk-UA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  <a:endParaRPr lang="ru-RU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endParaRPr lang="ru-RU" sz="3600" dirty="0"/>
          </a:p>
        </p:txBody>
      </p:sp>
      <p:pic>
        <p:nvPicPr>
          <p:cNvPr id="6" name="Содержимое 3" descr="учебники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43813" y="5572125"/>
            <a:ext cx="1143000" cy="1042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Содержимое 3" descr="глобус 3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6" y="4786322"/>
            <a:ext cx="1000125" cy="1444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1619672" y="476672"/>
            <a:ext cx="5911618" cy="46166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ru-RU" sz="6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 </a:t>
            </a:r>
            <a:r>
              <a:rPr lang="ru-RU" sz="6000" b="1" cap="all" spc="0" dirty="0" err="1" smtClean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Запрошуємо</a:t>
            </a:r>
            <a:r>
              <a:rPr lang="ru-RU" sz="6000" b="1" cap="all" spc="0" dirty="0" smtClean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 </a:t>
            </a:r>
          </a:p>
          <a:p>
            <a:pPr algn="ctr"/>
            <a:r>
              <a:rPr lang="uk-UA" sz="6000" b="1" cap="all" dirty="0" smtClean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До співпраці!!!</a:t>
            </a:r>
          </a:p>
          <a:p>
            <a:pPr algn="ctr"/>
            <a:endParaRPr lang="ru-RU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4" name="Рисунок 3" descr="007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430" y="5000636"/>
            <a:ext cx="1409700" cy="1401374"/>
          </a:xfrm>
          <a:prstGeom prst="rect">
            <a:avLst/>
          </a:prstGeom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168</Words>
  <Application>Microsoft Office PowerPoint</Application>
  <PresentationFormat>Экран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Обласна творча філологічна  майстерня№7</vt:lpstr>
      <vt:lpstr>Слайд 2</vt:lpstr>
      <vt:lpstr>Слайд 3</vt:lpstr>
      <vt:lpstr>Напрямки роботи: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cp:lastModifiedBy>Пользователь</cp:lastModifiedBy>
  <cp:revision>86</cp:revision>
  <dcterms:modified xsi:type="dcterms:W3CDTF">2013-02-07T19:36:43Z</dcterms:modified>
</cp:coreProperties>
</file>